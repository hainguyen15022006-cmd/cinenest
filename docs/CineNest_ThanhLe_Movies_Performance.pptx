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c2807e07b484be8" /><Relationship Type="http://schemas.openxmlformats.org/officeDocument/2006/relationships/extended-properties" Target="/docProps/app.xml" Id="R4e2666457cf94a88" /><Relationship Type="http://schemas.openxmlformats.org/officeDocument/2006/relationships/officeDocument" Target="/ppt/presentation.xml" Id="Re8783c2ebdaf40ac" /></Relationships>
</file>

<file path=ppt/presentation.xml><?xml version="1.0" encoding="utf-8"?>
<p:presentation xmlns:p="http://schemas.openxmlformats.org/presentationml/2006/main">
  <p:sldMasterIdLst>
    <p:sldMasterId xmlns:r="http://schemas.openxmlformats.org/officeDocument/2006/relationships" id="2147483648" r:id="R66fd089e93ac4750"/>
  </p:sldMasterIdLst>
  <p:notesMasterIdLst>
    <p:notesMasterId xmlns:r="http://schemas.openxmlformats.org/officeDocument/2006/relationships" r:id="Rf80dce3a7dd74bfd"/>
  </p:notesMasterIdLst>
  <p:sldIdLst>
    <p:sldId xmlns:r="http://schemas.openxmlformats.org/officeDocument/2006/relationships" id="256" r:id="Rc042aded21c0447f"/>
    <p:sldId xmlns:r="http://schemas.openxmlformats.org/officeDocument/2006/relationships" id="257" r:id="Rffe1550382564a85"/>
    <p:sldId xmlns:r="http://schemas.openxmlformats.org/officeDocument/2006/relationships" id="258" r:id="R06f5d339fc854896"/>
    <p:sldId xmlns:r="http://schemas.openxmlformats.org/officeDocument/2006/relationships" id="259" r:id="Rdfe70a1ee6d942b5"/>
    <p:sldId xmlns:r="http://schemas.openxmlformats.org/officeDocument/2006/relationships" id="260" r:id="R2dc2c6dc0f074f2f"/>
    <p:sldId xmlns:r="http://schemas.openxmlformats.org/officeDocument/2006/relationships" id="261" r:id="R9a79a329939f45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92013fdf324d96" /><Relationship Type="http://schemas.openxmlformats.org/officeDocument/2006/relationships/slideMaster" Target="/ppt/slideMasters/slideMaster1.xml" Id="R66fd089e93ac4750" /><Relationship Type="http://schemas.openxmlformats.org/officeDocument/2006/relationships/notesMaster" Target="/ppt/notesMasters/notesMaster1.xml" Id="Rf80dce3a7dd74bfd" /><Relationship Type="http://schemas.openxmlformats.org/officeDocument/2006/relationships/presProps" Target="/ppt/presProps.xml" Id="Rf6488f7fef3c43d4" /><Relationship Type="http://schemas.openxmlformats.org/officeDocument/2006/relationships/tableStyles" Target="/ppt/tableStyles.xml" Id="R8aab5c57fb42417e" /><Relationship Type="http://schemas.openxmlformats.org/officeDocument/2006/relationships/slide" Target="/ppt/slides/slide1.xml" Id="Rc042aded21c0447f" /><Relationship Type="http://schemas.openxmlformats.org/officeDocument/2006/relationships/slide" Target="/ppt/slides/slide2.xml" Id="Rffe1550382564a85" /><Relationship Type="http://schemas.openxmlformats.org/officeDocument/2006/relationships/slide" Target="/ppt/slides/slide3.xml" Id="R06f5d339fc854896" /><Relationship Type="http://schemas.openxmlformats.org/officeDocument/2006/relationships/slide" Target="/ppt/slides/slide4.xml" Id="Rdfe70a1ee6d942b5" /><Relationship Type="http://schemas.openxmlformats.org/officeDocument/2006/relationships/slide" Target="/ppt/slides/slide5.xml" Id="R2dc2c6dc0f074f2f" /><Relationship Type="http://schemas.openxmlformats.org/officeDocument/2006/relationships/slide" Target="/ppt/slides/slide6.xml" Id="R9a79a329939f45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ef8e64aaac4e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1f864ba07549e8" /><Relationship Type="http://schemas.openxmlformats.org/officeDocument/2006/relationships/notesMaster" Target="/ppt/notesMasters/notesMaster1.xml" Id="R9bcdf7cf6f0e4b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f24e9c265f438e" /><Relationship Type="http://schemas.openxmlformats.org/officeDocument/2006/relationships/notesMaster" Target="/ppt/notesMasters/notesMaster1.xml" Id="Racc208d83e5840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58521a6d114a7a" /><Relationship Type="http://schemas.openxmlformats.org/officeDocument/2006/relationships/notesMaster" Target="/ppt/notesMasters/notesMaster1.xml" Id="R006c8babd2b64a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47134ec4e547bd" /><Relationship Type="http://schemas.openxmlformats.org/officeDocument/2006/relationships/notesMaster" Target="/ppt/notesMasters/notesMaster1.xml" Id="R7173afb72e144c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4cdb7395534813" /><Relationship Type="http://schemas.openxmlformats.org/officeDocument/2006/relationships/notesMaster" Target="/ppt/notesMasters/notesMaster1.xml" Id="R703fb09fb37f40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d7bc484a0e4fec" /><Relationship Type="http://schemas.openxmlformats.org/officeDocument/2006/relationships/notesMaster" Target="/ppt/notesMasters/notesMaster1.xml" Id="Rf5aa1cfde0584c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trình bày của Thành Lê trong dự án CineNest. Nội dung và phạm vi dựa trên tài liệu phân công 7 ngày của nhóm.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ba phần Thành phụ trách: API phim, nhập dữ liệu và giao diện liên quan. Kết quả kiểm thử lấy từ lượt chạy cuối cùng trong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gợi ý: đổi phim trong booking, mở hai cửa sổ chuẩn bị phim, rồi gửi yêu cầu với phiên bản cũ để thấy MOVIE_CHANGED.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Lần dry run đọc 45.466 dòng và chọn 5.000 phim hợp lệ. Lần chạy lại không thêm bản ghi, chứng minh importer có thể chạy lặp lại với cùng giới hạn.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PF02 đo riêng endpoint booking: một yêu cầu tạo booking, 199 yêu cầu còn lại nhận 409. Login có p95 cao do 200 phép kiểm tra bcrypt chạy đồng thời, không làm sai tính đúng đắn của chống trùng.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Dành khoảng hai phút cho demo và ba phút cho Q&amp;A. Trả lời bằng số đo từ báo cáo, tránh khẳng định ngoài dữ liệu đã kiểm 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d03767b6ba4d2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c163644fcc41c5" /><Relationship Type="http://schemas.openxmlformats.org/officeDocument/2006/relationships/slideLayout" Target="/ppt/slideLayouts/slideLayout1.xml" Id="R567f2ec1710546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7f2ec1710546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89b95e239c4501" /><Relationship Type="http://schemas.openxmlformats.org/officeDocument/2006/relationships/notesSlide" Target="/ppt/notesSlides/notesSlide1.xml" Id="Rdcdf5a5900cf4b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f70d569e3e4b63" /><Relationship Type="http://schemas.openxmlformats.org/officeDocument/2006/relationships/notesSlide" Target="/ppt/notesSlides/notesSlide2.xml" Id="R71e72a3f22cb4b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90e80ceeb5543c5" /><Relationship Type="http://schemas.openxmlformats.org/officeDocument/2006/relationships/notesSlide" Target="/ppt/notesSlides/notesSlide3.xml" Id="Rec154310d67a47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83ed28c18c41e7" /><Relationship Type="http://schemas.openxmlformats.org/officeDocument/2006/relationships/notesSlide" Target="/ppt/notesSlides/notesSlide4.xml" Id="R8aac6d57d3a64d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977ab602834542" /><Relationship Type="http://schemas.openxmlformats.org/officeDocument/2006/relationships/chart" Target="/ppt/slides/charts/chart1.xml" Id="R8245577c40ef4a70" /><Relationship Type="http://schemas.openxmlformats.org/officeDocument/2006/relationships/notesSlide" Target="/ppt/notesSlides/notesSlide5.xml" Id="R07e96683ef0e4b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909872729744a39" /><Relationship Type="http://schemas.openxmlformats.org/officeDocument/2006/relationships/notesSlide" Target="/ppt/notesSlides/notesSlide6.xml" Id="Rbaf6a6dd92304af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p95 (ms)</c:v>
          </c:tx>
          <c:spPr>
            <a:solidFill xmlns:a="http://schemas.openxmlformats.org/drawingml/2006/main">
              <a:srgbClr val="F28C28"/>
            </a:solidFill>
          </c:spPr>
          <c:cat>
            <c:strRef>
              <c:f>'Chart Data'!$A$2:$A$6</c:f>
              <c:strCache>
                <c:ptCount val="5"/>
                <c:pt idx="0">
                  <c:v>PF01 availability</c:v>
                </c:pt>
                <c:pt idx="1">
                  <c:v>PF02 contention</c:v>
                </c:pt>
                <c:pt idx="2">
                  <c:v>PF03 availability</c:v>
                </c:pt>
                <c:pt idx="3">
                  <c:v>PF03 booking</c:v>
                </c:pt>
                <c:pt idx="4">
                  <c:v>PF03 login</c:v>
                </c:pt>
              </c:strCache>
            </c:strRef>
          </c:cat>
          <c:val>
            <c:numRef>
              <c:f>'Chart Data'!$B$2:$B$6</c:f>
              <c:numCache>
                <c:formatCode>General</c:formatCode>
                <c:ptCount val="5"/>
                <c:pt idx="0">
                  <c:v>27</c:v>
                </c:pt>
                <c:pt idx="1">
                  <c:v>1500</c:v>
                </c:pt>
                <c:pt idx="2">
                  <c:v>130</c:v>
                </c:pt>
                <c:pt idx="3">
                  <c:v>100</c:v>
                </c:pt>
                <c:pt idx="4">
                  <c:v>870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EBE198B-26D4-42D6-9C79-F46C823A17F8}"/>
              </a:ext>
            </a:extLst>
          </p:cNvPr>
          <p:cNvSpPr>
            <a:spLocks xmlns:a="http://schemas.openxmlformats.org/drawingml/2006/main" noGrp="1"/>
          </p:cNvSpPr>
          <p:nvPr/>
        </p:nvSpPr>
        <p:spPr>
          <a:xfrm xmlns:a="http://schemas.openxmlformats.org/drawingml/2006/main">
            <a:off x="685800" y="628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F28C28"/>
                </a:solidFill>
                <a:latin typeface="Arial"/>
                <a:ea typeface="Arial"/>
                <a:cs typeface="Arial"/>
              </a:defRPr>
            </a:pPr>
            <a:r>
              <a:rPr sz="1500" b="1">
                <a:solidFill>
                  <a:srgbClr val="F28C28"/>
                </a:solidFill>
                <a:latin typeface="Arial"/>
                <a:ea typeface="Arial"/>
                <a:cs typeface="Arial"/>
              </a:rPr>
              <a:t>CINENEST</a:t>
            </a:r>
          </a:p>
        </p:txBody>
      </p:sp>
      <p:sp>
        <p:nvSpPr>
          <p:cNvPr id="2" name="">
            <a:extLst xmlns:a="http://schemas.openxmlformats.org/drawingml/2006/main">
              <a:ext uri="{FF2B5EF4-FFF2-40B4-BE49-F238E27FC236}">
                <a16:creationId xmlns:a16="http://schemas.microsoft.com/office/drawing/2014/main" id="{CD99783F-2CB1-42FC-97E4-269AEC4FA812}"/>
              </a:ext>
            </a:extLst>
          </p:cNvPr>
          <p:cNvSpPr>
            <a:spLocks xmlns:a="http://schemas.openxmlformats.org/drawingml/2006/main" noGrp="1"/>
          </p:cNvSpPr>
          <p:nvPr/>
        </p:nvSpPr>
        <p:spPr>
          <a:xfrm xmlns:a="http://schemas.openxmlformats.org/drawingml/2006/main">
            <a:off x="685800" y="1809750"/>
            <a:ext cx="9048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050" b="1">
                <a:solidFill>
                  <a:srgbClr val="F7F2E8"/>
                </a:solidFill>
                <a:latin typeface="Arial"/>
                <a:ea typeface="Arial"/>
                <a:cs typeface="Arial"/>
              </a:defRPr>
            </a:pPr>
            <a:r>
              <a:rPr sz="4050" b="1">
                <a:solidFill>
                  <a:srgbClr val="F7F2E8"/>
                </a:solidFill>
                <a:latin typeface="Arial"/>
                <a:ea typeface="Arial"/>
                <a:cs typeface="Arial"/>
              </a:rPr>
              <a:t>Phim và kiểm thử hiệu năng</a:t>
            </a:r>
          </a:p>
        </p:txBody>
      </p:sp>
      <p:sp>
        <p:nvSpPr>
          <p:cNvPr id="3" name="">
            <a:extLst xmlns:a="http://schemas.openxmlformats.org/drawingml/2006/main">
              <a:ext uri="{FF2B5EF4-FFF2-40B4-BE49-F238E27FC236}">
                <a16:creationId xmlns:a16="http://schemas.microsoft.com/office/drawing/2014/main" id="{9C9ADFB6-FFD3-4AF8-86E8-84DDDF7086E8}"/>
              </a:ext>
            </a:extLst>
          </p:cNvPr>
          <p:cNvSpPr>
            <a:spLocks xmlns:a="http://schemas.openxmlformats.org/drawingml/2006/main" noGrp="1"/>
          </p:cNvSpPr>
          <p:nvPr/>
        </p:nvSpPr>
        <p:spPr>
          <a:xfrm xmlns:a="http://schemas.openxmlformats.org/drawingml/2006/main">
            <a:off x="685800" y="33528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B8B3A8"/>
                </a:solidFill>
                <a:latin typeface="Arial"/>
                <a:ea typeface="Arial"/>
                <a:cs typeface="Arial"/>
              </a:defRPr>
            </a:pPr>
            <a:r>
              <a:rPr sz="1875" b="0">
                <a:solidFill>
                  <a:srgbClr val="B8B3A8"/>
                </a:solidFill>
                <a:latin typeface="Arial"/>
                <a:ea typeface="Arial"/>
                <a:cs typeface="Arial"/>
              </a:rPr>
              <a:t>Danh mục phim, đổi phim an toàn và bằng chứng tải thực tế</a:t>
            </a:r>
          </a:p>
        </p:txBody>
      </p:sp>
      <p:sp>
        <p:nvSpPr>
          <p:cNvPr id="4" name="">
            <a:extLst xmlns:a="http://schemas.openxmlformats.org/drawingml/2006/main">
              <a:ext uri="{FF2B5EF4-FFF2-40B4-BE49-F238E27FC236}">
                <a16:creationId xmlns:a16="http://schemas.microsoft.com/office/drawing/2014/main" id="{6CC47576-7C87-446E-8085-99BB5379DEAD}"/>
              </a:ext>
            </a:extLst>
          </p:cNvPr>
          <p:cNvSpPr>
            <a:spLocks xmlns:a="http://schemas.openxmlformats.org/drawingml/2006/main" noGrp="1"/>
          </p:cNvSpPr>
          <p:nvPr/>
        </p:nvSpPr>
        <p:spPr>
          <a:xfrm xmlns:a="http://schemas.openxmlformats.org/drawingml/2006/main">
            <a:off x="685800" y="54292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61D6C5"/>
                </a:solidFill>
                <a:latin typeface="Arial"/>
                <a:ea typeface="Arial"/>
                <a:cs typeface="Arial"/>
              </a:defRPr>
            </a:pPr>
            <a:r>
              <a:rPr sz="1800" b="1">
                <a:solidFill>
                  <a:srgbClr val="61D6C5"/>
                </a:solidFill>
                <a:latin typeface="Arial"/>
                <a:ea typeface="Arial"/>
                <a:cs typeface="Arial"/>
              </a:rPr>
              <a:t>Thành Lê</a:t>
            </a:r>
          </a:p>
        </p:txBody>
      </p:sp>
      <p:sp>
        <p:nvSpPr>
          <p:cNvPr id="5" name="">
            <a:extLst xmlns:a="http://schemas.openxmlformats.org/drawingml/2006/main">
              <a:ext uri="{FF2B5EF4-FFF2-40B4-BE49-F238E27FC236}">
                <a16:creationId xmlns:a16="http://schemas.microsoft.com/office/drawing/2014/main" id="{92D6A02D-1460-41D2-B790-AE795610D086}"/>
              </a:ext>
            </a:extLst>
          </p:cNvPr>
          <p:cNvSpPr>
            <a:spLocks xmlns:a="http://schemas.openxmlformats.org/drawingml/2006/main" noGrp="1"/>
          </p:cNvSpPr>
          <p:nvPr/>
        </p:nvSpPr>
        <p:spPr>
          <a:xfrm xmlns:a="http://schemas.openxmlformats.org/drawingml/2006/main">
            <a:off x="9620250" y="5429250"/>
            <a:ext cx="1885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B8B3A8"/>
                </a:solidFill>
                <a:latin typeface="Arial"/>
                <a:ea typeface="Arial"/>
                <a:cs typeface="Arial"/>
              </a:defRPr>
            </a:pPr>
            <a:r>
              <a:rPr sz="1350" b="0">
                <a:solidFill>
                  <a:srgbClr val="B8B3A8"/>
                </a:solidFill>
                <a:latin typeface="Arial"/>
                <a:ea typeface="Arial"/>
                <a:cs typeface="Arial"/>
              </a:rPr>
              <a:t>18.09.2026</a:t>
            </a:r>
          </a:p>
        </p:txBody>
      </p:sp>
    </p:spTree>
    <p:extLst>
      <p:ext uri="{BB962C8B-B14F-4D97-AF65-F5344CB8AC3E}">
        <p14:creationId xmlns:p14="http://schemas.microsoft.com/office/powerpoint/2010/main" val="1895339265"/>
      </p:ext>
    </p:extLst>
  </p:cSld>
</p:sld>
</file>

<file path=ppt/slides/slide2.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F974C21-6FB1-41EC-B6BE-F1B8313BF805}"/>
              </a:ext>
            </a:extLst>
          </p:cNvPr>
          <p:cNvSpPr>
            <a:spLocks xmlns:a="http://schemas.openxmlformats.org/drawingml/2006/main" noGrp="1"/>
          </p:cNvSpPr>
          <p:nvPr/>
        </p:nvSpPr>
        <p:spPr>
          <a:xfrm xmlns:a="http://schemas.openxmlformats.org/drawingml/2006/main">
            <a:off x="68580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72027"/>
                </a:solidFill>
                <a:latin typeface="Arial"/>
                <a:ea typeface="Arial"/>
                <a:cs typeface="Arial"/>
              </a:defRPr>
            </a:pPr>
            <a:r>
              <a:rPr sz="2625" b="1">
                <a:solidFill>
                  <a:srgbClr val="172027"/>
                </a:solidFill>
                <a:latin typeface="Arial"/>
                <a:ea typeface="Arial"/>
                <a:cs typeface="Arial"/>
              </a:rPr>
              <a:t>Phạm vi đã bàn giao</a:t>
            </a:r>
          </a:p>
        </p:txBody>
      </p:sp>
      <p:sp>
        <p:nvSpPr>
          <p:cNvPr id="2" name="">
            <a:extLst xmlns:a="http://schemas.openxmlformats.org/drawingml/2006/main">
              <a:ext uri="{FF2B5EF4-FFF2-40B4-BE49-F238E27FC236}">
                <a16:creationId xmlns:a16="http://schemas.microsoft.com/office/drawing/2014/main" id="{3A1892F5-AD14-4FD8-A094-58E75BFA345C}"/>
              </a:ext>
            </a:extLst>
          </p:cNvPr>
          <p:cNvSpPr>
            <a:spLocks xmlns:a="http://schemas.openxmlformats.org/drawingml/2006/main" noGrp="1"/>
          </p:cNvSpPr>
          <p:nvPr/>
        </p:nvSpPr>
        <p:spPr>
          <a:xfrm xmlns:a="http://schemas.openxmlformats.org/drawingml/2006/main">
            <a:off x="10934700" y="4572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F28C28"/>
                </a:solidFill>
                <a:latin typeface="Arial"/>
                <a:ea typeface="Arial"/>
                <a:cs typeface="Arial"/>
              </a:defRPr>
            </a:pPr>
            <a:r>
              <a:rPr sz="1350" b="1">
                <a:solidFill>
                  <a:srgbClr val="F28C2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3B8ED46-8A35-4E96-816E-D320578BCD1B}"/>
              </a:ext>
            </a:extLst>
          </p:cNvPr>
          <p:cNvSpPr>
            <a:spLocks xmlns:a="http://schemas.openxmlformats.org/drawingml/2006/main" noGrp="1"/>
          </p:cNvSpPr>
          <p:nvPr/>
        </p:nvSpPr>
        <p:spPr>
          <a:xfrm xmlns:a="http://schemas.openxmlformats.org/drawingml/2006/main">
            <a:off x="685800" y="13906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28C28"/>
                </a:solidFill>
                <a:latin typeface="Arial"/>
                <a:ea typeface="Arial"/>
                <a:cs typeface="Arial"/>
              </a:defRPr>
            </a:pPr>
            <a:r>
              <a:rPr sz="1200" b="1">
                <a:solidFill>
                  <a:srgbClr val="F28C28"/>
                </a:solidFill>
                <a:latin typeface="Arial"/>
                <a:ea typeface="Arial"/>
                <a:cs typeface="Arial"/>
              </a:rPr>
              <a:t>BACKEND</a:t>
            </a:r>
          </a:p>
        </p:txBody>
      </p:sp>
      <p:sp>
        <p:nvSpPr>
          <p:cNvPr id="4" name="">
            <a:extLst xmlns:a="http://schemas.openxmlformats.org/drawingml/2006/main">
              <a:ext uri="{FF2B5EF4-FFF2-40B4-BE49-F238E27FC236}">
                <a16:creationId xmlns:a16="http://schemas.microsoft.com/office/drawing/2014/main" id="{AF79B3B5-F700-43B6-BAED-5BE19EBF98A3}"/>
              </a:ext>
            </a:extLst>
          </p:cNvPr>
          <p:cNvSpPr>
            <a:spLocks xmlns:a="http://schemas.openxmlformats.org/drawingml/2006/main" noGrp="1"/>
          </p:cNvSpPr>
          <p:nvPr/>
        </p:nvSpPr>
        <p:spPr>
          <a:xfrm xmlns:a="http://schemas.openxmlformats.org/drawingml/2006/main">
            <a:off x="685800" y="1771650"/>
            <a:ext cx="321945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72027"/>
                </a:solidFill>
                <a:latin typeface="Arial"/>
                <a:ea typeface="Arial"/>
                <a:cs typeface="Arial"/>
              </a:defRPr>
            </a:pPr>
            <a:r>
              <a:rPr sz="1725" b="0">
                <a:solidFill>
                  <a:srgbClr val="172027"/>
                </a:solidFill>
                <a:latin typeface="Arial"/>
                <a:ea typeface="Arial"/>
                <a:cs typeface="Arial"/>
              </a:rPr>
              <a:t>Danh sách phim có phân trang, tìm kiếm, lọc thể loại và thời lượng.</a:t>
            </a:r>
          </a:p>
          <a:p xmlns:a="http://schemas.openxmlformats.org/drawingml/2006/main">
            <a:r>
              <a:t/>
            </a:r>
          </a:p>
          <a:p xmlns:a="http://schemas.openxmlformats.org/drawingml/2006/main">
            <a:pPr algn="l">
              <a:defRPr sz="1725" b="0">
                <a:solidFill>
                  <a:srgbClr val="172027"/>
                </a:solidFill>
                <a:latin typeface="Arial"/>
                <a:ea typeface="Arial"/>
                <a:cs typeface="Arial"/>
              </a:defRPr>
            </a:pPr>
            <a:r>
              <a:rPr sz="1725" b="0">
                <a:solidFill>
                  <a:srgbClr val="172027"/>
                </a:solidFill>
                <a:latin typeface="Arial"/>
                <a:ea typeface="Arial"/>
                <a:cs typeface="Arial"/>
              </a:rPr>
              <a:t>Đổi phim cập nhật snapshot phiên bản và lịch sử thao tác.</a:t>
            </a:r>
          </a:p>
        </p:txBody>
      </p:sp>
      <p:sp>
        <p:nvSpPr>
          <p:cNvPr id="5" name="">
            <a:extLst xmlns:a="http://schemas.openxmlformats.org/drawingml/2006/main">
              <a:ext uri="{FF2B5EF4-FFF2-40B4-BE49-F238E27FC236}">
                <a16:creationId xmlns:a16="http://schemas.microsoft.com/office/drawing/2014/main" id="{A061754B-DF8D-4082-8A3C-FA88F03780F2}"/>
              </a:ext>
            </a:extLst>
          </p:cNvPr>
          <p:cNvSpPr>
            <a:spLocks xmlns:a="http://schemas.openxmlformats.org/drawingml/2006/main" noGrp="1"/>
          </p:cNvSpPr>
          <p:nvPr/>
        </p:nvSpPr>
        <p:spPr>
          <a:xfrm xmlns:a="http://schemas.openxmlformats.org/drawingml/2006/main">
            <a:off x="4495800" y="13906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28C28"/>
                </a:solidFill>
                <a:latin typeface="Arial"/>
                <a:ea typeface="Arial"/>
                <a:cs typeface="Arial"/>
              </a:defRPr>
            </a:pPr>
            <a:r>
              <a:rPr sz="1200" b="1">
                <a:solidFill>
                  <a:srgbClr val="F28C28"/>
                </a:solidFill>
                <a:latin typeface="Arial"/>
                <a:ea typeface="Arial"/>
                <a:cs typeface="Arial"/>
              </a:rPr>
              <a:t>DỮ LIỆU</a:t>
            </a:r>
          </a:p>
        </p:txBody>
      </p:sp>
      <p:sp>
        <p:nvSpPr>
          <p:cNvPr id="6" name="">
            <a:extLst xmlns:a="http://schemas.openxmlformats.org/drawingml/2006/main">
              <a:ext uri="{FF2B5EF4-FFF2-40B4-BE49-F238E27FC236}">
                <a16:creationId xmlns:a16="http://schemas.microsoft.com/office/drawing/2014/main" id="{3E87737E-D978-40F0-8528-A4E614A87DCB}"/>
              </a:ext>
            </a:extLst>
          </p:cNvPr>
          <p:cNvSpPr>
            <a:spLocks xmlns:a="http://schemas.openxmlformats.org/drawingml/2006/main" noGrp="1"/>
          </p:cNvSpPr>
          <p:nvPr/>
        </p:nvSpPr>
        <p:spPr>
          <a:xfrm xmlns:a="http://schemas.openxmlformats.org/drawingml/2006/main">
            <a:off x="4495800" y="1771650"/>
            <a:ext cx="320040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72027"/>
                </a:solidFill>
                <a:latin typeface="Arial"/>
                <a:ea typeface="Arial"/>
                <a:cs typeface="Arial"/>
              </a:defRPr>
            </a:pPr>
            <a:r>
              <a:rPr sz="1725" b="0">
                <a:solidFill>
                  <a:srgbClr val="172027"/>
                </a:solidFill>
                <a:latin typeface="Arial"/>
                <a:ea typeface="Arial"/>
                <a:cs typeface="Arial"/>
              </a:rPr>
              <a:t>Importer đọc CSV Kaggle/TMDB, chuẩn hóa nhãn tuổi, loại trùng theo tmdbId và hỗ trợ dry run.</a:t>
            </a:r>
          </a:p>
          <a:p xmlns:a="http://schemas.openxmlformats.org/drawingml/2006/main">
            <a:r>
              <a:t/>
            </a:r>
          </a:p>
          <a:p xmlns:a="http://schemas.openxmlformats.org/drawingml/2006/main">
            <a:pPr algn="l">
              <a:defRPr sz="1725" b="0">
                <a:solidFill>
                  <a:srgbClr val="172027"/>
                </a:solidFill>
                <a:latin typeface="Arial"/>
                <a:ea typeface="Arial"/>
                <a:cs typeface="Arial"/>
              </a:defRPr>
            </a:pPr>
            <a:r>
              <a:rPr sz="1725" b="0">
                <a:solidFill>
                  <a:srgbClr val="172027"/>
                </a:solidFill>
                <a:latin typeface="Arial"/>
                <a:ea typeface="Arial"/>
                <a:cs typeface="Arial"/>
              </a:rPr>
              <a:t>Đã nhập đúng 5.000 phim nguồn.</a:t>
            </a:r>
          </a:p>
        </p:txBody>
      </p:sp>
      <p:sp>
        <p:nvSpPr>
          <p:cNvPr id="7" name="">
            <a:extLst xmlns:a="http://schemas.openxmlformats.org/drawingml/2006/main">
              <a:ext uri="{FF2B5EF4-FFF2-40B4-BE49-F238E27FC236}">
                <a16:creationId xmlns:a16="http://schemas.microsoft.com/office/drawing/2014/main" id="{919A7B98-EFE2-4988-A2EE-9A765FFFE836}"/>
              </a:ext>
            </a:extLst>
          </p:cNvPr>
          <p:cNvSpPr>
            <a:spLocks xmlns:a="http://schemas.openxmlformats.org/drawingml/2006/main" noGrp="1"/>
          </p:cNvSpPr>
          <p:nvPr/>
        </p:nvSpPr>
        <p:spPr>
          <a:xfrm xmlns:a="http://schemas.openxmlformats.org/drawingml/2006/main">
            <a:off x="8286750" y="13906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28C28"/>
                </a:solidFill>
                <a:latin typeface="Arial"/>
                <a:ea typeface="Arial"/>
                <a:cs typeface="Arial"/>
              </a:defRPr>
            </a:pPr>
            <a:r>
              <a:rPr sz="1200" b="1">
                <a:solidFill>
                  <a:srgbClr val="F28C28"/>
                </a:solidFill>
                <a:latin typeface="Arial"/>
                <a:ea typeface="Arial"/>
                <a:cs typeface="Arial"/>
              </a:rPr>
              <a:t>GIAO DIỆN</a:t>
            </a:r>
          </a:p>
        </p:txBody>
      </p:sp>
      <p:sp>
        <p:nvSpPr>
          <p:cNvPr id="8" name="">
            <a:extLst xmlns:a="http://schemas.openxmlformats.org/drawingml/2006/main">
              <a:ext uri="{FF2B5EF4-FFF2-40B4-BE49-F238E27FC236}">
                <a16:creationId xmlns:a16="http://schemas.microsoft.com/office/drawing/2014/main" id="{EA586E0C-2EFA-40AC-B05F-0A8BEB46759F}"/>
              </a:ext>
            </a:extLst>
          </p:cNvPr>
          <p:cNvSpPr>
            <a:spLocks xmlns:a="http://schemas.openxmlformats.org/drawingml/2006/main" noGrp="1"/>
          </p:cNvSpPr>
          <p:nvPr/>
        </p:nvSpPr>
        <p:spPr>
          <a:xfrm xmlns:a="http://schemas.openxmlformats.org/drawingml/2006/main">
            <a:off x="8286750" y="1771650"/>
            <a:ext cx="3219450" cy="2686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72027"/>
                </a:solidFill>
                <a:latin typeface="Arial"/>
                <a:ea typeface="Arial"/>
                <a:cs typeface="Arial"/>
              </a:defRPr>
            </a:pPr>
            <a:r>
              <a:rPr sz="1725" b="0">
                <a:solidFill>
                  <a:srgbClr val="172027"/>
                </a:solidFill>
                <a:latin typeface="Arial"/>
                <a:ea typeface="Arial"/>
                <a:cs typeface="Arial"/>
              </a:rPr>
              <a:t>Movie picker chống kết quả tìm kiếm cũ ghi đè.</a:t>
            </a:r>
          </a:p>
          <a:p xmlns:a="http://schemas.openxmlformats.org/drawingml/2006/main">
            <a:r>
              <a:t/>
            </a:r>
          </a:p>
          <a:p xmlns:a="http://schemas.openxmlformats.org/drawingml/2006/main">
            <a:pPr algn="l">
              <a:defRPr sz="1725" b="0">
                <a:solidFill>
                  <a:srgbClr val="172027"/>
                </a:solidFill>
                <a:latin typeface="Arial"/>
                <a:ea typeface="Arial"/>
                <a:cs typeface="Arial"/>
              </a:defRPr>
            </a:pPr>
            <a:r>
              <a:rPr sz="1725" b="0">
                <a:solidFill>
                  <a:srgbClr val="172027"/>
                </a:solidFill>
                <a:latin typeface="Arial"/>
                <a:ea typeface="Arial"/>
                <a:cs typeface="Arial"/>
              </a:rPr>
              <a:t>Trang nhân viên xử lý READY, UNAVAILABLE và trang quản trị CRUD phim.</a:t>
            </a:r>
          </a:p>
        </p:txBody>
      </p:sp>
      <p:sp>
        <p:nvSpPr>
          <p:cNvPr id="9" name="">
            <a:extLst xmlns:a="http://schemas.openxmlformats.org/drawingml/2006/main">
              <a:ext uri="{FF2B5EF4-FFF2-40B4-BE49-F238E27FC236}">
                <a16:creationId xmlns:a16="http://schemas.microsoft.com/office/drawing/2014/main" id="{181FD0A6-D6AB-4F1C-86C7-B869AFE9D9B3}"/>
              </a:ext>
            </a:extLst>
          </p:cNvPr>
          <p:cNvSpPr>
            <a:spLocks xmlns:a="http://schemas.openxmlformats.org/drawingml/2006/main" noGrp="1"/>
          </p:cNvSpPr>
          <p:nvPr/>
        </p:nvSpPr>
        <p:spPr>
          <a:xfrm xmlns:a="http://schemas.openxmlformats.org/drawingml/2006/main">
            <a:off x="685800" y="49339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172027"/>
                </a:solidFill>
                <a:latin typeface="Arial"/>
                <a:ea typeface="Arial"/>
                <a:cs typeface="Arial"/>
              </a:defRPr>
            </a:pPr>
            <a:r>
              <a:rPr sz="3450" b="1">
                <a:solidFill>
                  <a:srgbClr val="172027"/>
                </a:solidFill>
                <a:latin typeface="Arial"/>
                <a:ea typeface="Arial"/>
                <a:cs typeface="Arial"/>
              </a:rPr>
              <a:t>25/25</a:t>
            </a:r>
          </a:p>
        </p:txBody>
      </p:sp>
      <p:sp>
        <p:nvSpPr>
          <p:cNvPr id="10" name="">
            <a:extLst xmlns:a="http://schemas.openxmlformats.org/drawingml/2006/main">
              <a:ext uri="{FF2B5EF4-FFF2-40B4-BE49-F238E27FC236}">
                <a16:creationId xmlns:a16="http://schemas.microsoft.com/office/drawing/2014/main" id="{85B88674-BAAE-4971-A1AD-E21494F47521}"/>
              </a:ext>
            </a:extLst>
          </p:cNvPr>
          <p:cNvSpPr>
            <a:spLocks xmlns:a="http://schemas.openxmlformats.org/drawingml/2006/main" noGrp="1"/>
          </p:cNvSpPr>
          <p:nvPr/>
        </p:nvSpPr>
        <p:spPr>
          <a:xfrm xmlns:a="http://schemas.openxmlformats.org/drawingml/2006/main">
            <a:off x="2762250" y="5076825"/>
            <a:ext cx="4524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E6972"/>
                </a:solidFill>
                <a:latin typeface="Arial"/>
                <a:ea typeface="Arial"/>
                <a:cs typeface="Arial"/>
              </a:defRPr>
            </a:pPr>
            <a:r>
              <a:rPr sz="1575" b="0">
                <a:solidFill>
                  <a:srgbClr val="5E6972"/>
                </a:solidFill>
                <a:latin typeface="Arial"/>
                <a:ea typeface="Arial"/>
                <a:cs typeface="Arial"/>
              </a:rPr>
              <a:t>unit và integration test đã qua</a:t>
            </a:r>
          </a:p>
        </p:txBody>
      </p:sp>
      <p:sp>
        <p:nvSpPr>
          <p:cNvPr id="11" name="">
            <a:extLst xmlns:a="http://schemas.openxmlformats.org/drawingml/2006/main">
              <a:ext uri="{FF2B5EF4-FFF2-40B4-BE49-F238E27FC236}">
                <a16:creationId xmlns:a16="http://schemas.microsoft.com/office/drawing/2014/main" id="{DF3AD55D-84E0-4988-A555-EDD1FBB604AE}"/>
              </a:ext>
            </a:extLst>
          </p:cNvPr>
          <p:cNvSpPr>
            <a:spLocks xmlns:a="http://schemas.openxmlformats.org/drawingml/2006/main" noGrp="1"/>
          </p:cNvSpPr>
          <p:nvPr/>
        </p:nvSpPr>
        <p:spPr>
          <a:xfrm xmlns:a="http://schemas.openxmlformats.org/drawingml/2006/main">
            <a:off x="8858250" y="5076825"/>
            <a:ext cx="2647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725" b="1">
                <a:solidFill>
                  <a:srgbClr val="61D6C5"/>
                </a:solidFill>
                <a:latin typeface="Arial"/>
                <a:ea typeface="Arial"/>
                <a:cs typeface="Arial"/>
              </a:defRPr>
            </a:pPr>
            <a:r>
              <a:rPr sz="1725" b="1">
                <a:solidFill>
                  <a:srgbClr val="61D6C5"/>
                </a:solidFill>
                <a:latin typeface="Arial"/>
                <a:ea typeface="Arial"/>
                <a:cs typeface="Arial"/>
              </a:rPr>
              <a:t>E2E: 1/1</a:t>
            </a:r>
          </a:p>
        </p:txBody>
      </p:sp>
      <p:sp>
        <p:nvSpPr>
          <p:cNvPr id="12" name="">
            <a:extLst xmlns:a="http://schemas.openxmlformats.org/drawingml/2006/main">
              <a:ext uri="{FF2B5EF4-FFF2-40B4-BE49-F238E27FC236}">
                <a16:creationId xmlns:a16="http://schemas.microsoft.com/office/drawing/2014/main" id="{E13951B2-202F-422F-A71A-68AA1B341D42}"/>
              </a:ext>
            </a:extLst>
          </p:cNvPr>
          <p:cNvSpPr>
            <a:spLocks xmlns:a="http://schemas.openxmlformats.org/drawingml/2006/main" noGrp="1"/>
          </p:cNvSpPr>
          <p:nvPr/>
        </p:nvSpPr>
        <p:spPr>
          <a:xfrm xmlns:a="http://schemas.openxmlformats.org/drawingml/2006/main">
            <a:off x="685800" y="64198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E6972"/>
                </a:solidFill>
                <a:latin typeface="Arial"/>
                <a:ea typeface="Arial"/>
                <a:cs typeface="Arial"/>
              </a:defRPr>
            </a:pPr>
            <a:r>
              <a:rPr sz="825" b="0">
                <a:solidFill>
                  <a:srgbClr val="5E6972"/>
                </a:solidFill>
                <a:latin typeface="Arial"/>
                <a:ea typeface="Arial"/>
                <a:cs typeface="Arial"/>
              </a:rPr>
              <a:t>Nguồn: mã nguồn CineNest và kết quả kiểm thử ngày 18.09.2026</a:t>
            </a:r>
          </a:p>
        </p:txBody>
      </p:sp>
    </p:spTree>
    <p:extLst>
      <p:ext uri="{BB962C8B-B14F-4D97-AF65-F5344CB8AC3E}">
        <p14:creationId xmlns:p14="http://schemas.microsoft.com/office/powerpoint/2010/main" val="344896328"/>
      </p:ext>
    </p:extLst>
  </p:cSld>
</p:sld>
</file>

<file path=ppt/slides/slide3.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ED82A2-B710-43F1-8347-925565772DA2}"/>
              </a:ext>
            </a:extLst>
          </p:cNvPr>
          <p:cNvSpPr>
            <a:spLocks xmlns:a="http://schemas.openxmlformats.org/drawingml/2006/main" noGrp="1"/>
          </p:cNvSpPr>
          <p:nvPr/>
        </p:nvSpPr>
        <p:spPr>
          <a:xfrm xmlns:a="http://schemas.openxmlformats.org/drawingml/2006/main">
            <a:off x="685800" y="400050"/>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F7F2E8"/>
                </a:solidFill>
                <a:latin typeface="Arial"/>
                <a:ea typeface="Arial"/>
                <a:cs typeface="Arial"/>
              </a:defRPr>
            </a:pPr>
            <a:r>
              <a:rPr sz="2625" b="1">
                <a:solidFill>
                  <a:srgbClr val="F7F2E8"/>
                </a:solidFill>
                <a:latin typeface="Arial"/>
                <a:ea typeface="Arial"/>
                <a:cs typeface="Arial"/>
              </a:rPr>
              <a:t>Đổi phim và chuẩn bị phim an toàn</a:t>
            </a:r>
          </a:p>
        </p:txBody>
      </p:sp>
      <p:sp>
        <p:nvSpPr>
          <p:cNvPr id="2" name="">
            <a:extLst xmlns:a="http://schemas.openxmlformats.org/drawingml/2006/main">
              <a:ext uri="{FF2B5EF4-FFF2-40B4-BE49-F238E27FC236}">
                <a16:creationId xmlns:a16="http://schemas.microsoft.com/office/drawing/2014/main" id="{0F0F74E1-EFAB-46D6-9F17-11C45B36C4C4}"/>
              </a:ext>
            </a:extLst>
          </p:cNvPr>
          <p:cNvSpPr>
            <a:spLocks xmlns:a="http://schemas.openxmlformats.org/drawingml/2006/main" noGrp="1"/>
          </p:cNvSpPr>
          <p:nvPr/>
        </p:nvSpPr>
        <p:spPr>
          <a:xfrm xmlns:a="http://schemas.openxmlformats.org/drawingml/2006/main">
            <a:off x="10934700" y="4572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F28C28"/>
                </a:solidFill>
                <a:latin typeface="Arial"/>
                <a:ea typeface="Arial"/>
                <a:cs typeface="Arial"/>
              </a:defRPr>
            </a:pPr>
            <a:r>
              <a:rPr sz="1350" b="1">
                <a:solidFill>
                  <a:srgbClr val="F28C2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086ED3AD-B646-4A0B-B35B-F9B7364FFD47}"/>
              </a:ext>
            </a:extLst>
          </p:cNvPr>
          <p:cNvSpPr>
            <a:spLocks xmlns:a="http://schemas.openxmlformats.org/drawingml/2006/main" noGrp="1"/>
          </p:cNvSpPr>
          <p:nvPr/>
        </p:nvSpPr>
        <p:spPr>
          <a:xfrm xmlns:a="http://schemas.openxmlformats.org/drawingml/2006/main">
            <a:off x="685800" y="1571625"/>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61D6C5"/>
                </a:solidFill>
                <a:latin typeface="Arial"/>
                <a:ea typeface="Arial"/>
                <a:cs typeface="Arial"/>
              </a:defRPr>
            </a:pPr>
            <a:r>
              <a:rPr sz="1650" b="1">
                <a:solidFill>
                  <a:srgbClr val="61D6C5"/>
                </a:solidFill>
                <a:latin typeface="Arial"/>
                <a:ea typeface="Arial"/>
                <a:cs typeface="Arial"/>
              </a:rPr>
              <a:t>expectedVersion</a:t>
            </a:r>
          </a:p>
        </p:txBody>
      </p:sp>
      <p:sp>
        <p:nvSpPr>
          <p:cNvPr id="4" name="">
            <a:extLst xmlns:a="http://schemas.openxmlformats.org/drawingml/2006/main">
              <a:ext uri="{FF2B5EF4-FFF2-40B4-BE49-F238E27FC236}">
                <a16:creationId xmlns:a16="http://schemas.microsoft.com/office/drawing/2014/main" id="{8AC10AD9-B82F-4E79-8656-E3DB84F9AF2D}"/>
              </a:ext>
            </a:extLst>
          </p:cNvPr>
          <p:cNvSpPr>
            <a:spLocks xmlns:a="http://schemas.openxmlformats.org/drawingml/2006/main" noGrp="1"/>
          </p:cNvSpPr>
          <p:nvPr/>
        </p:nvSpPr>
        <p:spPr>
          <a:xfrm xmlns:a="http://schemas.openxmlformats.org/drawingml/2006/main">
            <a:off x="685800" y="2114550"/>
            <a:ext cx="3714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F7F2E8"/>
                </a:solidFill>
                <a:latin typeface="Arial"/>
                <a:ea typeface="Arial"/>
                <a:cs typeface="Arial"/>
              </a:defRPr>
            </a:pPr>
            <a:r>
              <a:rPr sz="1875" b="0">
                <a:solidFill>
                  <a:srgbClr val="F7F2E8"/>
                </a:solidFill>
                <a:latin typeface="Arial"/>
                <a:ea typeface="Arial"/>
                <a:cs typeface="Arial"/>
              </a:rPr>
              <a:t>Khóa lạc quan chặn màn hình nhân viên cũ cập nhật nhầm phim sau khi khách đổi lựa chọn.</a:t>
            </a:r>
          </a:p>
        </p:txBody>
      </p:sp>
      <p:sp>
        <p:nvSpPr>
          <p:cNvPr id="5" name="">
            <a:extLst xmlns:a="http://schemas.openxmlformats.org/drawingml/2006/main">
              <a:ext uri="{FF2B5EF4-FFF2-40B4-BE49-F238E27FC236}">
                <a16:creationId xmlns:a16="http://schemas.microsoft.com/office/drawing/2014/main" id="{35FC3698-73BE-4414-BD0E-01FF0FFD4E59}"/>
              </a:ext>
            </a:extLst>
          </p:cNvPr>
          <p:cNvSpPr>
            <a:spLocks xmlns:a="http://schemas.openxmlformats.org/drawingml/2006/main" noGrp="1"/>
          </p:cNvSpPr>
          <p:nvPr/>
        </p:nvSpPr>
        <p:spPr>
          <a:xfrm xmlns:a="http://schemas.openxmlformats.org/drawingml/2006/main">
            <a:off x="5095875" y="1619250"/>
            <a:ext cx="6381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225" b="1">
                <a:solidFill>
                  <a:srgbClr val="F28C28"/>
                </a:solidFill>
                <a:latin typeface="Arial"/>
                <a:ea typeface="Arial"/>
                <a:cs typeface="Arial"/>
              </a:defRPr>
            </a:pPr>
            <a:r>
              <a:rPr sz="3225" b="1">
                <a:solidFill>
                  <a:srgbClr val="F28C28"/>
                </a:solidFill>
                <a:latin typeface="Arial"/>
                <a:ea typeface="Arial"/>
                <a:cs typeface="Arial"/>
              </a:rPr>
              <a:t>version = version + 1</a:t>
            </a:r>
          </a:p>
        </p:txBody>
      </p:sp>
      <p:sp>
        <p:nvSpPr>
          <p:cNvPr id="6" name="">
            <a:extLst xmlns:a="http://schemas.openxmlformats.org/drawingml/2006/main">
              <a:ext uri="{FF2B5EF4-FFF2-40B4-BE49-F238E27FC236}">
                <a16:creationId xmlns:a16="http://schemas.microsoft.com/office/drawing/2014/main" id="{81B4B3A1-C7F9-4167-A8B5-70FDE616AF22}"/>
              </a:ext>
            </a:extLst>
          </p:cNvPr>
          <p:cNvSpPr>
            <a:spLocks xmlns:a="http://schemas.openxmlformats.org/drawingml/2006/main" noGrp="1"/>
          </p:cNvSpPr>
          <p:nvPr/>
        </p:nvSpPr>
        <p:spPr>
          <a:xfrm xmlns:a="http://schemas.openxmlformats.org/drawingml/2006/main">
            <a:off x="5238750" y="2876550"/>
            <a:ext cx="2333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F7F2E8"/>
                </a:solidFill>
                <a:latin typeface="Arial"/>
                <a:ea typeface="Arial"/>
                <a:cs typeface="Arial"/>
              </a:defRPr>
            </a:pPr>
            <a:r>
              <a:rPr sz="2025" b="1">
                <a:solidFill>
                  <a:srgbClr val="F7F2E8"/>
                </a:solidFill>
                <a:latin typeface="Arial"/>
                <a:ea typeface="Arial"/>
                <a:cs typeface="Arial"/>
              </a:rPr>
              <a:t>PENDING</a:t>
            </a:r>
          </a:p>
        </p:txBody>
      </p:sp>
      <p:sp>
        <p:nvSpPr>
          <p:cNvPr id="7" name="">
            <a:extLst xmlns:a="http://schemas.openxmlformats.org/drawingml/2006/main">
              <a:ext uri="{FF2B5EF4-FFF2-40B4-BE49-F238E27FC236}">
                <a16:creationId xmlns:a16="http://schemas.microsoft.com/office/drawing/2014/main" id="{770057CB-A1E0-445B-A26A-B08BB4EED907}"/>
              </a:ext>
            </a:extLst>
          </p:cNvPr>
          <p:cNvSpPr>
            <a:spLocks xmlns:a="http://schemas.openxmlformats.org/drawingml/2006/main" noGrp="1"/>
          </p:cNvSpPr>
          <p:nvPr/>
        </p:nvSpPr>
        <p:spPr>
          <a:xfrm xmlns:a="http://schemas.openxmlformats.org/drawingml/2006/main">
            <a:off x="8953500" y="2876550"/>
            <a:ext cx="2333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61D6C5"/>
                </a:solidFill>
                <a:latin typeface="Arial"/>
                <a:ea typeface="Arial"/>
                <a:cs typeface="Arial"/>
              </a:defRPr>
            </a:pPr>
            <a:r>
              <a:rPr sz="2025" b="1">
                <a:solidFill>
                  <a:srgbClr val="61D6C5"/>
                </a:solidFill>
                <a:latin typeface="Arial"/>
                <a:ea typeface="Arial"/>
                <a:cs typeface="Arial"/>
              </a:rPr>
              <a:t>READY</a:t>
            </a:r>
          </a:p>
        </p:txBody>
      </p:sp>
      <p:sp>
        <p:nvSpPr>
          <p:cNvPr id="8" name="">
            <a:extLst xmlns:a="http://schemas.openxmlformats.org/drawingml/2006/main">
              <a:ext uri="{FF2B5EF4-FFF2-40B4-BE49-F238E27FC236}">
                <a16:creationId xmlns:a16="http://schemas.microsoft.com/office/drawing/2014/main" id="{FBD74C51-B379-4961-9288-DCF95659A8C3}"/>
              </a:ext>
            </a:extLst>
          </p:cNvPr>
          <p:cNvSpPr>
            <a:spLocks xmlns:a="http://schemas.openxmlformats.org/drawingml/2006/main" noGrp="1"/>
          </p:cNvSpPr>
          <p:nvPr/>
        </p:nvSpPr>
        <p:spPr>
          <a:xfrm xmlns:a="http://schemas.openxmlformats.org/drawingml/2006/main">
            <a:off x="5095875" y="3905250"/>
            <a:ext cx="6381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0">
                <a:solidFill>
                  <a:srgbClr val="B8B3A8"/>
                </a:solidFill>
                <a:latin typeface="Arial"/>
                <a:ea typeface="Arial"/>
                <a:cs typeface="Arial"/>
              </a:defRPr>
            </a:pPr>
            <a:r>
              <a:rPr sz="1800" b="0">
                <a:solidFill>
                  <a:srgbClr val="B8B3A8"/>
                </a:solidFill>
                <a:latin typeface="Arial"/>
                <a:ea typeface="Arial"/>
                <a:cs typeface="Arial"/>
              </a:rPr>
              <a:t>Nếu quản trị viên tắt phim đang dùng, booking chuyển sang UNAVAILABLE và tăng movieVersion. Yêu cầu cũ nhận MOVIE_CHANGED.</a:t>
            </a:r>
          </a:p>
        </p:txBody>
      </p:sp>
      <p:sp>
        <p:nvSpPr>
          <p:cNvPr id="9" name="">
            <a:extLst xmlns:a="http://schemas.openxmlformats.org/drawingml/2006/main">
              <a:ext uri="{FF2B5EF4-FFF2-40B4-BE49-F238E27FC236}">
                <a16:creationId xmlns:a16="http://schemas.microsoft.com/office/drawing/2014/main" id="{B9774D2E-690A-4AE2-A204-E15F22DA56EB}"/>
              </a:ext>
            </a:extLst>
          </p:cNvPr>
          <p:cNvSpPr>
            <a:spLocks xmlns:a="http://schemas.openxmlformats.org/drawingml/2006/main" noGrp="1"/>
          </p:cNvSpPr>
          <p:nvPr/>
        </p:nvSpPr>
        <p:spPr>
          <a:xfrm xmlns:a="http://schemas.openxmlformats.org/drawingml/2006/main">
            <a:off x="685800" y="53816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7F2E8"/>
                </a:solidFill>
                <a:latin typeface="Arial"/>
                <a:ea typeface="Arial"/>
                <a:cs typeface="Arial"/>
              </a:defRPr>
            </a:pPr>
            <a:r>
              <a:rPr sz="1650" b="1">
                <a:solidFill>
                  <a:srgbClr val="F7F2E8"/>
                </a:solidFill>
                <a:latin typeface="Arial"/>
                <a:ea typeface="Arial"/>
                <a:cs typeface="Arial"/>
              </a:rPr>
              <a:t>Transaction giữ trạng thái booking và lịch sử thay đổi nhất quán.</a:t>
            </a:r>
          </a:p>
        </p:txBody>
      </p:sp>
      <p:sp>
        <p:nvSpPr>
          <p:cNvPr id="10" name="">
            <a:extLst xmlns:a="http://schemas.openxmlformats.org/drawingml/2006/main">
              <a:ext uri="{FF2B5EF4-FFF2-40B4-BE49-F238E27FC236}">
                <a16:creationId xmlns:a16="http://schemas.microsoft.com/office/drawing/2014/main" id="{12DB7C71-6795-41C9-98DB-F1539A701B06}"/>
              </a:ext>
            </a:extLst>
          </p:cNvPr>
          <p:cNvSpPr>
            <a:spLocks xmlns:a="http://schemas.openxmlformats.org/drawingml/2006/main" noGrp="1"/>
          </p:cNvSpPr>
          <p:nvPr/>
        </p:nvSpPr>
        <p:spPr>
          <a:xfrm xmlns:a="http://schemas.openxmlformats.org/drawingml/2006/main">
            <a:off x="685800" y="64198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B8B3A8"/>
                </a:solidFill>
                <a:latin typeface="Arial"/>
                <a:ea typeface="Arial"/>
                <a:cs typeface="Arial"/>
              </a:defRPr>
            </a:pPr>
            <a:r>
              <a:rPr sz="825" b="0">
                <a:solidFill>
                  <a:srgbClr val="B8B3A8"/>
                </a:solidFill>
                <a:latin typeface="Arial"/>
                <a:ea typeface="Arial"/>
                <a:cs typeface="Arial"/>
              </a:rPr>
              <a:t>Nguồn: backend/src/modules/movies/movies.service.ts</a:t>
            </a:r>
          </a:p>
        </p:txBody>
      </p:sp>
    </p:spTree>
    <p:extLst>
      <p:ext uri="{BB962C8B-B14F-4D97-AF65-F5344CB8AC3E}">
        <p14:creationId xmlns:p14="http://schemas.microsoft.com/office/powerpoint/2010/main" val="1530699133"/>
      </p:ext>
    </p:extLst>
  </p:cSld>
</p:sld>
</file>

<file path=ppt/slides/slide4.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570C979-895E-4355-90BC-593C696383BC}"/>
              </a:ext>
            </a:extLst>
          </p:cNvPr>
          <p:cNvSpPr>
            <a:spLocks xmlns:a="http://schemas.openxmlformats.org/drawingml/2006/main" noGrp="1"/>
          </p:cNvSpPr>
          <p:nvPr/>
        </p:nvSpPr>
        <p:spPr>
          <a:xfrm xmlns:a="http://schemas.openxmlformats.org/drawingml/2006/main">
            <a:off x="68580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72027"/>
                </a:solidFill>
                <a:latin typeface="Arial"/>
                <a:ea typeface="Arial"/>
                <a:cs typeface="Arial"/>
              </a:defRPr>
            </a:pPr>
            <a:r>
              <a:rPr sz="2625" b="1">
                <a:solidFill>
                  <a:srgbClr val="172027"/>
                </a:solidFill>
                <a:latin typeface="Arial"/>
                <a:ea typeface="Arial"/>
                <a:cs typeface="Arial"/>
              </a:rPr>
              <a:t>Dữ liệu phim thật và khả năng chạy lại</a:t>
            </a:r>
          </a:p>
        </p:txBody>
      </p:sp>
      <p:sp>
        <p:nvSpPr>
          <p:cNvPr id="2" name="">
            <a:extLst xmlns:a="http://schemas.openxmlformats.org/drawingml/2006/main">
              <a:ext uri="{FF2B5EF4-FFF2-40B4-BE49-F238E27FC236}">
                <a16:creationId xmlns:a16="http://schemas.microsoft.com/office/drawing/2014/main" id="{F5C5400A-0D1D-4722-8467-D47C3E17F5C5}"/>
              </a:ext>
            </a:extLst>
          </p:cNvPr>
          <p:cNvSpPr>
            <a:spLocks xmlns:a="http://schemas.openxmlformats.org/drawingml/2006/main" noGrp="1"/>
          </p:cNvSpPr>
          <p:nvPr/>
        </p:nvSpPr>
        <p:spPr>
          <a:xfrm xmlns:a="http://schemas.openxmlformats.org/drawingml/2006/main">
            <a:off x="10934700" y="4572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F28C28"/>
                </a:solidFill>
                <a:latin typeface="Arial"/>
                <a:ea typeface="Arial"/>
                <a:cs typeface="Arial"/>
              </a:defRPr>
            </a:pPr>
            <a:r>
              <a:rPr sz="1350" b="1">
                <a:solidFill>
                  <a:srgbClr val="F28C2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A23678E-4C24-4B50-AFF5-2621F37D8396}"/>
              </a:ext>
            </a:extLst>
          </p:cNvPr>
          <p:cNvSpPr>
            <a:spLocks xmlns:a="http://schemas.openxmlformats.org/drawingml/2006/main" noGrp="1"/>
          </p:cNvSpPr>
          <p:nvPr/>
        </p:nvSpPr>
        <p:spPr>
          <a:xfrm xmlns:a="http://schemas.openxmlformats.org/drawingml/2006/main">
            <a:off x="685800" y="1352550"/>
            <a:ext cx="342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172027"/>
                </a:solidFill>
                <a:latin typeface="Arial"/>
                <a:ea typeface="Arial"/>
                <a:cs typeface="Arial"/>
              </a:defRPr>
            </a:pPr>
            <a:r>
              <a:rPr sz="3900" b="1">
                <a:solidFill>
                  <a:srgbClr val="172027"/>
                </a:solidFill>
                <a:latin typeface="Arial"/>
                <a:ea typeface="Arial"/>
                <a:cs typeface="Arial"/>
              </a:rPr>
              <a:t>45.466</a:t>
            </a:r>
          </a:p>
        </p:txBody>
      </p:sp>
      <p:sp>
        <p:nvSpPr>
          <p:cNvPr id="4" name="">
            <a:extLst xmlns:a="http://schemas.openxmlformats.org/drawingml/2006/main">
              <a:ext uri="{FF2B5EF4-FFF2-40B4-BE49-F238E27FC236}">
                <a16:creationId xmlns:a16="http://schemas.microsoft.com/office/drawing/2014/main" id="{3056FEBE-FD16-4859-A8DB-E52ED6820849}"/>
              </a:ext>
            </a:extLst>
          </p:cNvPr>
          <p:cNvSpPr>
            <a:spLocks xmlns:a="http://schemas.openxmlformats.org/drawingml/2006/main" noGrp="1"/>
          </p:cNvSpPr>
          <p:nvPr/>
        </p:nvSpPr>
        <p:spPr>
          <a:xfrm xmlns:a="http://schemas.openxmlformats.org/drawingml/2006/main">
            <a:off x="685800" y="20478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E6972"/>
                </a:solidFill>
                <a:latin typeface="Arial"/>
                <a:ea typeface="Arial"/>
                <a:cs typeface="Arial"/>
              </a:defRPr>
            </a:pPr>
            <a:r>
              <a:rPr sz="1575" b="0">
                <a:solidFill>
                  <a:srgbClr val="5E6972"/>
                </a:solidFill>
                <a:latin typeface="Arial"/>
                <a:ea typeface="Arial"/>
                <a:cs typeface="Arial"/>
              </a:rPr>
              <a:t>dòng metadata đã đọc</a:t>
            </a:r>
          </a:p>
        </p:txBody>
      </p:sp>
      <p:sp>
        <p:nvSpPr>
          <p:cNvPr id="5" name="">
            <a:extLst xmlns:a="http://schemas.openxmlformats.org/drawingml/2006/main">
              <a:ext uri="{FF2B5EF4-FFF2-40B4-BE49-F238E27FC236}">
                <a16:creationId xmlns:a16="http://schemas.microsoft.com/office/drawing/2014/main" id="{B979B277-1E49-4862-B6D2-08E3460C1048}"/>
              </a:ext>
            </a:extLst>
          </p:cNvPr>
          <p:cNvSpPr>
            <a:spLocks xmlns:a="http://schemas.openxmlformats.org/drawingml/2006/main" noGrp="1"/>
          </p:cNvSpPr>
          <p:nvPr/>
        </p:nvSpPr>
        <p:spPr>
          <a:xfrm xmlns:a="http://schemas.openxmlformats.org/drawingml/2006/main">
            <a:off x="4429125" y="1352550"/>
            <a:ext cx="304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F28C28"/>
                </a:solidFill>
                <a:latin typeface="Arial"/>
                <a:ea typeface="Arial"/>
                <a:cs typeface="Arial"/>
              </a:defRPr>
            </a:pPr>
            <a:r>
              <a:rPr sz="3900" b="1">
                <a:solidFill>
                  <a:srgbClr val="F28C28"/>
                </a:solidFill>
                <a:latin typeface="Arial"/>
                <a:ea typeface="Arial"/>
                <a:cs typeface="Arial"/>
              </a:rPr>
              <a:t>5.000</a:t>
            </a:r>
          </a:p>
        </p:txBody>
      </p:sp>
      <p:sp>
        <p:nvSpPr>
          <p:cNvPr id="6" name="">
            <a:extLst xmlns:a="http://schemas.openxmlformats.org/drawingml/2006/main">
              <a:ext uri="{FF2B5EF4-FFF2-40B4-BE49-F238E27FC236}">
                <a16:creationId xmlns:a16="http://schemas.microsoft.com/office/drawing/2014/main" id="{1A52D862-165B-4008-8CF1-64836522F981}"/>
              </a:ext>
            </a:extLst>
          </p:cNvPr>
          <p:cNvSpPr>
            <a:spLocks xmlns:a="http://schemas.openxmlformats.org/drawingml/2006/main" noGrp="1"/>
          </p:cNvSpPr>
          <p:nvPr/>
        </p:nvSpPr>
        <p:spPr>
          <a:xfrm xmlns:a="http://schemas.openxmlformats.org/drawingml/2006/main">
            <a:off x="4429125" y="20478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E6972"/>
                </a:solidFill>
                <a:latin typeface="Arial"/>
                <a:ea typeface="Arial"/>
                <a:cs typeface="Arial"/>
              </a:defRPr>
            </a:pPr>
            <a:r>
              <a:rPr sz="1575" b="0">
                <a:solidFill>
                  <a:srgbClr val="5E6972"/>
                </a:solidFill>
                <a:latin typeface="Arial"/>
                <a:ea typeface="Arial"/>
                <a:cs typeface="Arial"/>
              </a:rPr>
              <a:t>phim TMDB trong cơ sở dữ liệu</a:t>
            </a:r>
          </a:p>
        </p:txBody>
      </p:sp>
      <p:sp>
        <p:nvSpPr>
          <p:cNvPr id="7" name="">
            <a:extLst xmlns:a="http://schemas.openxmlformats.org/drawingml/2006/main">
              <a:ext uri="{FF2B5EF4-FFF2-40B4-BE49-F238E27FC236}">
                <a16:creationId xmlns:a16="http://schemas.microsoft.com/office/drawing/2014/main" id="{045D2045-4BCF-4344-B7CC-3CC6D24A35E4}"/>
              </a:ext>
            </a:extLst>
          </p:cNvPr>
          <p:cNvSpPr>
            <a:spLocks xmlns:a="http://schemas.openxmlformats.org/drawingml/2006/main" noGrp="1"/>
          </p:cNvSpPr>
          <p:nvPr/>
        </p:nvSpPr>
        <p:spPr>
          <a:xfrm xmlns:a="http://schemas.openxmlformats.org/drawingml/2006/main">
            <a:off x="8286750" y="1352550"/>
            <a:ext cx="304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61D6C5"/>
                </a:solidFill>
                <a:latin typeface="Arial"/>
                <a:ea typeface="Arial"/>
                <a:cs typeface="Arial"/>
              </a:defRPr>
            </a:pPr>
            <a:r>
              <a:rPr sz="3900" b="1">
                <a:solidFill>
                  <a:srgbClr val="61D6C5"/>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04BBC24B-5ED8-48D4-B096-C972AB08A207}"/>
              </a:ext>
            </a:extLst>
          </p:cNvPr>
          <p:cNvSpPr>
            <a:spLocks xmlns:a="http://schemas.openxmlformats.org/drawingml/2006/main" noGrp="1"/>
          </p:cNvSpPr>
          <p:nvPr/>
        </p:nvSpPr>
        <p:spPr>
          <a:xfrm xmlns:a="http://schemas.openxmlformats.org/drawingml/2006/main">
            <a:off x="8286750" y="20478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E6972"/>
                </a:solidFill>
                <a:latin typeface="Arial"/>
                <a:ea typeface="Arial"/>
                <a:cs typeface="Arial"/>
              </a:defRPr>
            </a:pPr>
            <a:r>
              <a:rPr sz="1575" b="0">
                <a:solidFill>
                  <a:srgbClr val="5E6972"/>
                </a:solidFill>
                <a:latin typeface="Arial"/>
                <a:ea typeface="Arial"/>
                <a:cs typeface="Arial"/>
              </a:rPr>
              <a:t>bản ghi thêm ở lần chạy lại</a:t>
            </a:r>
          </a:p>
        </p:txBody>
      </p:sp>
      <p:sp>
        <p:nvSpPr>
          <p:cNvPr id="9" name="">
            <a:extLst xmlns:a="http://schemas.openxmlformats.org/drawingml/2006/main">
              <a:ext uri="{FF2B5EF4-FFF2-40B4-BE49-F238E27FC236}">
                <a16:creationId xmlns:a16="http://schemas.microsoft.com/office/drawing/2014/main" id="{DD032CA3-23FD-4BA9-AF9E-748C434634AB}"/>
              </a:ext>
            </a:extLst>
          </p:cNvPr>
          <p:cNvSpPr>
            <a:spLocks xmlns:a="http://schemas.openxmlformats.org/drawingml/2006/main" noGrp="1"/>
          </p:cNvSpPr>
          <p:nvPr/>
        </p:nvSpPr>
        <p:spPr>
          <a:xfrm xmlns:a="http://schemas.openxmlformats.org/drawingml/2006/main">
            <a:off x="685800" y="31432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72027"/>
                </a:solidFill>
                <a:latin typeface="Arial"/>
                <a:ea typeface="Arial"/>
                <a:cs typeface="Arial"/>
              </a:defRPr>
            </a:pPr>
            <a:r>
              <a:rPr sz="1875" b="1">
                <a:solidFill>
                  <a:srgbClr val="172027"/>
                </a:solidFill>
                <a:latin typeface="Arial"/>
                <a:ea typeface="Arial"/>
                <a:cs typeface="Arial"/>
              </a:rPr>
              <a:t>Quy tắc nhập</a:t>
            </a:r>
          </a:p>
        </p:txBody>
      </p:sp>
      <p:sp>
        <p:nvSpPr>
          <p:cNvPr id="10" name="">
            <a:extLst xmlns:a="http://schemas.openxmlformats.org/drawingml/2006/main">
              <a:ext uri="{FF2B5EF4-FFF2-40B4-BE49-F238E27FC236}">
                <a16:creationId xmlns:a16="http://schemas.microsoft.com/office/drawing/2014/main" id="{297C47F3-224B-41BB-9DE4-964D17A92B65}"/>
              </a:ext>
            </a:extLst>
          </p:cNvPr>
          <p:cNvSpPr>
            <a:spLocks xmlns:a="http://schemas.openxmlformats.org/drawingml/2006/main" noGrp="1"/>
          </p:cNvSpPr>
          <p:nvPr/>
        </p:nvSpPr>
        <p:spPr>
          <a:xfrm xmlns:a="http://schemas.openxmlformats.org/drawingml/2006/main">
            <a:off x="685800" y="3638550"/>
            <a:ext cx="571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72027"/>
                </a:solidFill>
                <a:latin typeface="Arial"/>
                <a:ea typeface="Arial"/>
                <a:cs typeface="Arial"/>
              </a:defRPr>
            </a:pPr>
            <a:r>
              <a:rPr sz="1725" b="0">
                <a:solidFill>
                  <a:srgbClr val="172027"/>
                </a:solidFill>
                <a:latin typeface="Arial"/>
                <a:ea typeface="Arial"/>
                <a:cs typeface="Arial"/>
              </a:rPr>
              <a:t>Loại dòng thiếu định danh hoặc tiêu đề</a:t>
            </a:r>
          </a:p>
          <a:p xmlns:a="http://schemas.openxmlformats.org/drawingml/2006/main">
            <a:pPr algn="l">
              <a:defRPr sz="1725" b="0">
                <a:solidFill>
                  <a:srgbClr val="172027"/>
                </a:solidFill>
                <a:latin typeface="Arial"/>
                <a:ea typeface="Arial"/>
                <a:cs typeface="Arial"/>
              </a:defRPr>
            </a:pPr>
            <a:r>
              <a:rPr sz="1725" b="0">
                <a:solidFill>
                  <a:srgbClr val="172027"/>
                </a:solidFill>
                <a:latin typeface="Arial"/>
                <a:ea typeface="Arial"/>
                <a:cs typeface="Arial"/>
              </a:rPr>
              <a:t>Chuẩn hóa poster và mô tả</a:t>
            </a:r>
          </a:p>
          <a:p xmlns:a="http://schemas.openxmlformats.org/drawingml/2006/main">
            <a:pPr algn="l">
              <a:defRPr sz="1725" b="0">
                <a:solidFill>
                  <a:srgbClr val="172027"/>
                </a:solidFill>
                <a:latin typeface="Arial"/>
                <a:ea typeface="Arial"/>
                <a:cs typeface="Arial"/>
              </a:defRPr>
            </a:pPr>
            <a:r>
              <a:rPr sz="1725" b="0">
                <a:solidFill>
                  <a:srgbClr val="172027"/>
                </a:solidFill>
                <a:latin typeface="Arial"/>
                <a:ea typeface="Arial"/>
                <a:cs typeface="Arial"/>
              </a:rPr>
              <a:t>Gán NR khi nguồn không có nhãn tuổi</a:t>
            </a:r>
          </a:p>
          <a:p xmlns:a="http://schemas.openxmlformats.org/drawingml/2006/main">
            <a:pPr algn="l">
              <a:defRPr sz="1725" b="0">
                <a:solidFill>
                  <a:srgbClr val="172027"/>
                </a:solidFill>
                <a:latin typeface="Arial"/>
                <a:ea typeface="Arial"/>
                <a:cs typeface="Arial"/>
              </a:defRPr>
            </a:pPr>
            <a:r>
              <a:rPr sz="1725" b="0">
                <a:solidFill>
                  <a:srgbClr val="172027"/>
                </a:solidFill>
                <a:latin typeface="Arial"/>
                <a:ea typeface="Arial"/>
                <a:cs typeface="Arial"/>
              </a:rPr>
              <a:t>Giới hạn áp dụng trước bước đối chiếu dữ liệu</a:t>
            </a:r>
          </a:p>
        </p:txBody>
      </p:sp>
      <p:sp>
        <p:nvSpPr>
          <p:cNvPr id="11" name="">
            <a:extLst xmlns:a="http://schemas.openxmlformats.org/drawingml/2006/main">
              <a:ext uri="{FF2B5EF4-FFF2-40B4-BE49-F238E27FC236}">
                <a16:creationId xmlns:a16="http://schemas.microsoft.com/office/drawing/2014/main" id="{2220DDA2-6C68-43D3-8524-46A001AC612D}"/>
              </a:ext>
            </a:extLst>
          </p:cNvPr>
          <p:cNvSpPr>
            <a:spLocks xmlns:a="http://schemas.openxmlformats.org/drawingml/2006/main" noGrp="1"/>
          </p:cNvSpPr>
          <p:nvPr/>
        </p:nvSpPr>
        <p:spPr>
          <a:xfrm xmlns:a="http://schemas.openxmlformats.org/drawingml/2006/main">
            <a:off x="7810500" y="3352800"/>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1">
                <a:solidFill>
                  <a:srgbClr val="F28C28"/>
                </a:solidFill>
                <a:latin typeface="Arial"/>
                <a:ea typeface="Arial"/>
                <a:cs typeface="Arial"/>
              </a:defRPr>
            </a:pPr>
            <a:r>
              <a:rPr sz="2325" b="1">
                <a:solidFill>
                  <a:srgbClr val="F28C28"/>
                </a:solidFill>
                <a:latin typeface="Arial"/>
                <a:ea typeface="Arial"/>
                <a:cs typeface="Arial"/>
              </a:rPr>
              <a:t>tmdbId</a:t>
            </a:r>
          </a:p>
        </p:txBody>
      </p:sp>
      <p:sp>
        <p:nvSpPr>
          <p:cNvPr id="12" name="">
            <a:extLst xmlns:a="http://schemas.openxmlformats.org/drawingml/2006/main">
              <a:ext uri="{FF2B5EF4-FFF2-40B4-BE49-F238E27FC236}">
                <a16:creationId xmlns:a16="http://schemas.microsoft.com/office/drawing/2014/main" id="{0947E8CA-EC39-4EFB-AFA3-0E993C4F03C3}"/>
              </a:ext>
            </a:extLst>
          </p:cNvPr>
          <p:cNvSpPr>
            <a:spLocks xmlns:a="http://schemas.openxmlformats.org/drawingml/2006/main" noGrp="1"/>
          </p:cNvSpPr>
          <p:nvPr/>
        </p:nvSpPr>
        <p:spPr>
          <a:xfrm xmlns:a="http://schemas.openxmlformats.org/drawingml/2006/main">
            <a:off x="7810500" y="394335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0">
                <a:solidFill>
                  <a:srgbClr val="5E6972"/>
                </a:solidFill>
                <a:latin typeface="Arial"/>
                <a:ea typeface="Arial"/>
                <a:cs typeface="Arial"/>
              </a:defRPr>
            </a:pPr>
            <a:r>
              <a:rPr sz="1500" b="0">
                <a:solidFill>
                  <a:srgbClr val="5E6972"/>
                </a:solidFill>
                <a:latin typeface="Arial"/>
                <a:ea typeface="Arial"/>
                <a:cs typeface="Arial"/>
              </a:rPr>
              <a:t>khóa loại trùng</a:t>
            </a:r>
          </a:p>
        </p:txBody>
      </p:sp>
      <p:sp>
        <p:nvSpPr>
          <p:cNvPr id="13" name="">
            <a:extLst xmlns:a="http://schemas.openxmlformats.org/drawingml/2006/main">
              <a:ext uri="{FF2B5EF4-FFF2-40B4-BE49-F238E27FC236}">
                <a16:creationId xmlns:a16="http://schemas.microsoft.com/office/drawing/2014/main" id="{47812F27-F555-47B5-9A9F-93E773436232}"/>
              </a:ext>
            </a:extLst>
          </p:cNvPr>
          <p:cNvSpPr>
            <a:spLocks xmlns:a="http://schemas.openxmlformats.org/drawingml/2006/main" noGrp="1"/>
          </p:cNvSpPr>
          <p:nvPr/>
        </p:nvSpPr>
        <p:spPr>
          <a:xfrm xmlns:a="http://schemas.openxmlformats.org/drawingml/2006/main">
            <a:off x="7239000" y="4810125"/>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172027"/>
                </a:solidFill>
                <a:latin typeface="Arial"/>
                <a:ea typeface="Arial"/>
                <a:cs typeface="Arial"/>
              </a:defRPr>
            </a:pPr>
            <a:r>
              <a:rPr sz="2025" b="1">
                <a:solidFill>
                  <a:srgbClr val="172027"/>
                </a:solidFill>
                <a:latin typeface="Arial"/>
                <a:ea typeface="Arial"/>
                <a:cs typeface="Arial"/>
              </a:rPr>
              <a:t>5.000 = 5.000 = 5.000</a:t>
            </a:r>
          </a:p>
        </p:txBody>
      </p:sp>
      <p:sp>
        <p:nvSpPr>
          <p:cNvPr id="14" name="">
            <a:extLst xmlns:a="http://schemas.openxmlformats.org/drawingml/2006/main">
              <a:ext uri="{FF2B5EF4-FFF2-40B4-BE49-F238E27FC236}">
                <a16:creationId xmlns:a16="http://schemas.microsoft.com/office/drawing/2014/main" id="{2B2F9E10-2D3E-4F84-ADA1-BC3220D5B387}"/>
              </a:ext>
            </a:extLst>
          </p:cNvPr>
          <p:cNvSpPr>
            <a:spLocks xmlns:a="http://schemas.openxmlformats.org/drawingml/2006/main" noGrp="1"/>
          </p:cNvSpPr>
          <p:nvPr/>
        </p:nvSpPr>
        <p:spPr>
          <a:xfrm xmlns:a="http://schemas.openxmlformats.org/drawingml/2006/main">
            <a:off x="7239000" y="5353050"/>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0">
                <a:solidFill>
                  <a:srgbClr val="5E6972"/>
                </a:solidFill>
                <a:latin typeface="Arial"/>
                <a:ea typeface="Arial"/>
                <a:cs typeface="Arial"/>
              </a:defRPr>
            </a:pPr>
            <a:r>
              <a:rPr sz="1200" b="0">
                <a:solidFill>
                  <a:srgbClr val="5E6972"/>
                </a:solidFill>
                <a:latin typeface="Arial"/>
                <a:ea typeface="Arial"/>
                <a:cs typeface="Arial"/>
              </a:rPr>
              <a:t>TMDB     NR     POSTER</a:t>
            </a:r>
          </a:p>
        </p:txBody>
      </p:sp>
      <p:sp>
        <p:nvSpPr>
          <p:cNvPr id="15" name="">
            <a:extLst xmlns:a="http://schemas.openxmlformats.org/drawingml/2006/main">
              <a:ext uri="{FF2B5EF4-FFF2-40B4-BE49-F238E27FC236}">
                <a16:creationId xmlns:a16="http://schemas.microsoft.com/office/drawing/2014/main" id="{B3F09DFE-F045-4DA0-BBA8-D55032FC6D0F}"/>
              </a:ext>
            </a:extLst>
          </p:cNvPr>
          <p:cNvSpPr>
            <a:spLocks xmlns:a="http://schemas.openxmlformats.org/drawingml/2006/main" noGrp="1"/>
          </p:cNvSpPr>
          <p:nvPr/>
        </p:nvSpPr>
        <p:spPr>
          <a:xfrm xmlns:a="http://schemas.openxmlformats.org/drawingml/2006/main">
            <a:off x="685800" y="64198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E6972"/>
                </a:solidFill>
                <a:latin typeface="Arial"/>
                <a:ea typeface="Arial"/>
                <a:cs typeface="Arial"/>
              </a:defRPr>
            </a:pPr>
            <a:r>
              <a:rPr sz="825" b="0">
                <a:solidFill>
                  <a:srgbClr val="5E6972"/>
                </a:solidFill>
                <a:latin typeface="Arial"/>
                <a:ea typeface="Arial"/>
                <a:cs typeface="Arial"/>
              </a:rPr>
              <a:t>Nguồn: The Movies Dataset trên Kaggle/TMDB; kết quả importer CineNest</a:t>
            </a:r>
          </a:p>
        </p:txBody>
      </p:sp>
    </p:spTree>
    <p:extLst>
      <p:ext uri="{BB962C8B-B14F-4D97-AF65-F5344CB8AC3E}">
        <p14:creationId xmlns:p14="http://schemas.microsoft.com/office/powerpoint/2010/main" val="1052813026"/>
      </p:ext>
    </p:extLst>
  </p:cSld>
</p:sld>
</file>

<file path=ppt/slides/slide5.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93E8C4-60D2-4836-8E9B-1E5C740B392B}"/>
              </a:ext>
            </a:extLst>
          </p:cNvPr>
          <p:cNvSpPr>
            <a:spLocks xmlns:a="http://schemas.openxmlformats.org/drawingml/2006/main" noGrp="1"/>
          </p:cNvSpPr>
          <p:nvPr/>
        </p:nvSpPr>
        <p:spPr>
          <a:xfrm xmlns:a="http://schemas.openxmlformats.org/drawingml/2006/main">
            <a:off x="685800" y="400050"/>
            <a:ext cx="981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72027"/>
                </a:solidFill>
                <a:latin typeface="Arial"/>
                <a:ea typeface="Arial"/>
                <a:cs typeface="Arial"/>
              </a:defRPr>
            </a:pPr>
            <a:r>
              <a:rPr sz="2625" b="1">
                <a:solidFill>
                  <a:srgbClr val="172027"/>
                </a:solidFill>
                <a:latin typeface="Arial"/>
                <a:ea typeface="Arial"/>
                <a:cs typeface="Arial"/>
              </a:rPr>
              <a:t>Kết quả kiểm thử tải</a:t>
            </a:r>
          </a:p>
        </p:txBody>
      </p:sp>
      <p:sp>
        <p:nvSpPr>
          <p:cNvPr id="2" name="">
            <a:extLst xmlns:a="http://schemas.openxmlformats.org/drawingml/2006/main">
              <a:ext uri="{FF2B5EF4-FFF2-40B4-BE49-F238E27FC236}">
                <a16:creationId xmlns:a16="http://schemas.microsoft.com/office/drawing/2014/main" id="{76B0E168-39B0-492F-A021-CBA405BDA511}"/>
              </a:ext>
            </a:extLst>
          </p:cNvPr>
          <p:cNvSpPr>
            <a:spLocks xmlns:a="http://schemas.openxmlformats.org/drawingml/2006/main" noGrp="1"/>
          </p:cNvSpPr>
          <p:nvPr/>
        </p:nvSpPr>
        <p:spPr>
          <a:xfrm xmlns:a="http://schemas.openxmlformats.org/drawingml/2006/main">
            <a:off x="10934700" y="4572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F28C28"/>
                </a:solidFill>
                <a:latin typeface="Arial"/>
                <a:ea typeface="Arial"/>
                <a:cs typeface="Arial"/>
              </a:defRPr>
            </a:pPr>
            <a:r>
              <a:rPr sz="1350" b="1">
                <a:solidFill>
                  <a:srgbClr val="F28C2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583A01E1-0E8E-4213-A906-9BF6A73E9AAB}"/>
              </a:ext>
            </a:extLst>
          </p:cNvPr>
          <p:cNvSpPr>
            <a:spLocks xmlns:a="http://schemas.openxmlformats.org/drawingml/2006/main" noGrp="1"/>
          </p:cNvSpPr>
          <p:nvPr/>
        </p:nvSpPr>
        <p:spPr>
          <a:xfrm xmlns:a="http://schemas.openxmlformats.org/drawingml/2006/main">
            <a:off x="685800" y="11049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E6972"/>
                </a:solidFill>
                <a:latin typeface="Arial"/>
                <a:ea typeface="Arial"/>
                <a:cs typeface="Arial"/>
              </a:defRPr>
            </a:pPr>
            <a:r>
              <a:rPr sz="1275" b="1">
                <a:solidFill>
                  <a:srgbClr val="5E6972"/>
                </a:solidFill>
                <a:latin typeface="Arial"/>
                <a:ea typeface="Arial"/>
                <a:cs typeface="Arial"/>
              </a:rPr>
              <a:t>p95 theo kịch bản (ms)</a:t>
            </a:r>
          </a:p>
        </p:txBody>
      </p:sp>
      <p:sp>
        <p:nvSpPr>
          <p:cNvPr id="4" name="">
            <a:extLst xmlns:a="http://schemas.openxmlformats.org/drawingml/2006/main">
              <a:ext uri="{FF2B5EF4-FFF2-40B4-BE49-F238E27FC236}">
                <a16:creationId xmlns:a16="http://schemas.microsoft.com/office/drawing/2014/main" id="{720B33C4-4301-4D1B-B171-30A7F2BFC323}"/>
              </a:ext>
            </a:extLst>
          </p:cNvPr>
          <p:cNvSpPr>
            <a:spLocks xmlns:a="http://schemas.openxmlformats.org/drawingml/2006/main" noGrp="1"/>
          </p:cNvSpPr>
          <p:nvPr/>
        </p:nvSpPr>
        <p:spPr>
          <a:xfrm xmlns:a="http://schemas.openxmlformats.org/drawingml/2006/main">
            <a:off x="8334375" y="1485900"/>
            <a:ext cx="266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375" b="1">
                <a:solidFill>
                  <a:srgbClr val="61D6C5"/>
                </a:solidFill>
                <a:latin typeface="Arial"/>
                <a:ea typeface="Arial"/>
                <a:cs typeface="Arial"/>
              </a:defRPr>
            </a:pPr>
            <a:r>
              <a:rPr sz="3375" b="1">
                <a:solidFill>
                  <a:srgbClr val="61D6C5"/>
                </a:solidFill>
                <a:latin typeface="Arial"/>
                <a:ea typeface="Arial"/>
                <a:cs typeface="Arial"/>
              </a:rPr>
              <a:t>0 lỗi</a:t>
            </a:r>
          </a:p>
        </p:txBody>
      </p:sp>
      <p:sp>
        <p:nvSpPr>
          <p:cNvPr id="5" name="">
            <a:extLst xmlns:a="http://schemas.openxmlformats.org/drawingml/2006/main">
              <a:ext uri="{FF2B5EF4-FFF2-40B4-BE49-F238E27FC236}">
                <a16:creationId xmlns:a16="http://schemas.microsoft.com/office/drawing/2014/main" id="{8525342D-B123-4E13-AC1C-72B869CF404C}"/>
              </a:ext>
            </a:extLst>
          </p:cNvPr>
          <p:cNvSpPr>
            <a:spLocks xmlns:a="http://schemas.openxmlformats.org/drawingml/2006/main" noGrp="1"/>
          </p:cNvSpPr>
          <p:nvPr/>
        </p:nvSpPr>
        <p:spPr>
          <a:xfrm xmlns:a="http://schemas.openxmlformats.org/drawingml/2006/main">
            <a:off x="8020050" y="236220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0">
                <a:solidFill>
                  <a:srgbClr val="172027"/>
                </a:solidFill>
                <a:latin typeface="Arial"/>
                <a:ea typeface="Arial"/>
                <a:cs typeface="Arial"/>
              </a:defRPr>
            </a:pPr>
            <a:r>
              <a:rPr sz="1500" b="0">
                <a:solidFill>
                  <a:srgbClr val="172027"/>
                </a:solidFill>
                <a:latin typeface="Arial"/>
                <a:ea typeface="Arial"/>
                <a:cs typeface="Arial"/>
              </a:rPr>
              <a:t>PF01: 4.233 request availability</a:t>
            </a:r>
          </a:p>
        </p:txBody>
      </p:sp>
      <p:sp>
        <p:nvSpPr>
          <p:cNvPr id="6" name="">
            <a:extLst xmlns:a="http://schemas.openxmlformats.org/drawingml/2006/main">
              <a:ext uri="{FF2B5EF4-FFF2-40B4-BE49-F238E27FC236}">
                <a16:creationId xmlns:a16="http://schemas.microsoft.com/office/drawing/2014/main" id="{57CB772D-12E0-43DB-965A-3ABF3F7B4537}"/>
              </a:ext>
            </a:extLst>
          </p:cNvPr>
          <p:cNvSpPr>
            <a:spLocks xmlns:a="http://schemas.openxmlformats.org/drawingml/2006/main" noGrp="1"/>
          </p:cNvSpPr>
          <p:nvPr/>
        </p:nvSpPr>
        <p:spPr>
          <a:xfrm xmlns:a="http://schemas.openxmlformats.org/drawingml/2006/main">
            <a:off x="8334375" y="314325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F28C28"/>
                </a:solidFill>
                <a:latin typeface="Arial"/>
                <a:ea typeface="Arial"/>
                <a:cs typeface="Arial"/>
              </a:defRPr>
            </a:pPr>
            <a:r>
              <a:rPr sz="1425" b="1">
                <a:solidFill>
                  <a:srgbClr val="F28C28"/>
                </a:solidFill>
                <a:latin typeface="Arial"/>
                <a:ea typeface="Arial"/>
                <a:cs typeface="Arial"/>
              </a:rPr>
              <a:t>PF02</a:t>
            </a:r>
          </a:p>
        </p:txBody>
      </p:sp>
      <p:sp>
        <p:nvSpPr>
          <p:cNvPr id="7" name="">
            <a:extLst xmlns:a="http://schemas.openxmlformats.org/drawingml/2006/main">
              <a:ext uri="{FF2B5EF4-FFF2-40B4-BE49-F238E27FC236}">
                <a16:creationId xmlns:a16="http://schemas.microsoft.com/office/drawing/2014/main" id="{C9E96369-DF63-4DEA-BB9A-CDA2B69E4CB3}"/>
              </a:ext>
            </a:extLst>
          </p:cNvPr>
          <p:cNvSpPr>
            <a:spLocks xmlns:a="http://schemas.openxmlformats.org/drawingml/2006/main" noGrp="1"/>
          </p:cNvSpPr>
          <p:nvPr/>
        </p:nvSpPr>
        <p:spPr>
          <a:xfrm xmlns:a="http://schemas.openxmlformats.org/drawingml/2006/main">
            <a:off x="8020050" y="3562350"/>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172027"/>
                </a:solidFill>
                <a:latin typeface="Arial"/>
                <a:ea typeface="Arial"/>
                <a:cs typeface="Arial"/>
              </a:defRPr>
            </a:pPr>
            <a:r>
              <a:rPr sz="1650" b="0">
                <a:solidFill>
                  <a:srgbClr val="172027"/>
                </a:solidFill>
                <a:latin typeface="Arial"/>
                <a:ea typeface="Arial"/>
                <a:cs typeface="Arial"/>
              </a:rPr>
              <a:t>1 booking thành công</a:t>
            </a:r>
          </a:p>
          <a:p xmlns:a="http://schemas.openxmlformats.org/drawingml/2006/main">
            <a:pPr algn="ctr">
              <a:defRPr sz="1650" b="0">
                <a:solidFill>
                  <a:srgbClr val="172027"/>
                </a:solidFill>
                <a:latin typeface="Arial"/>
                <a:ea typeface="Arial"/>
                <a:cs typeface="Arial"/>
              </a:defRPr>
            </a:pPr>
            <a:r>
              <a:rPr sz="1650" b="0">
                <a:solidFill>
                  <a:srgbClr val="172027"/>
                </a:solidFill>
                <a:latin typeface="Arial"/>
                <a:ea typeface="Arial"/>
                <a:cs typeface="Arial"/>
              </a:rPr>
              <a:t>199 xung đột hợp lệ</a:t>
            </a:r>
          </a:p>
          <a:p xmlns:a="http://schemas.openxmlformats.org/drawingml/2006/main">
            <a:pPr algn="ctr">
              <a:defRPr sz="1650" b="0">
                <a:solidFill>
                  <a:srgbClr val="172027"/>
                </a:solidFill>
                <a:latin typeface="Arial"/>
                <a:ea typeface="Arial"/>
                <a:cs typeface="Arial"/>
              </a:defRPr>
            </a:pPr>
            <a:r>
              <a:rPr sz="1650" b="0">
                <a:solidFill>
                  <a:srgbClr val="172027"/>
                </a:solidFill>
                <a:latin typeface="Arial"/>
                <a:ea typeface="Arial"/>
                <a:cs typeface="Arial"/>
              </a:rPr>
              <a:t>0 booking trùng</a:t>
            </a:r>
          </a:p>
        </p:txBody>
      </p:sp>
      <p:sp>
        <p:nvSpPr>
          <p:cNvPr id="8" name="">
            <a:extLst xmlns:a="http://schemas.openxmlformats.org/drawingml/2006/main">
              <a:ext uri="{FF2B5EF4-FFF2-40B4-BE49-F238E27FC236}">
                <a16:creationId xmlns:a16="http://schemas.microsoft.com/office/drawing/2014/main" id="{4436AB8A-C781-494F-AE52-A5D85A9A14A0}"/>
              </a:ext>
            </a:extLst>
          </p:cNvPr>
          <p:cNvSpPr>
            <a:spLocks xmlns:a="http://schemas.openxmlformats.org/drawingml/2006/main" noGrp="1"/>
          </p:cNvSpPr>
          <p:nvPr/>
        </p:nvSpPr>
        <p:spPr>
          <a:xfrm xmlns:a="http://schemas.openxmlformats.org/drawingml/2006/main">
            <a:off x="685800" y="5562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72027"/>
                </a:solidFill>
                <a:latin typeface="Arial"/>
                <a:ea typeface="Arial"/>
                <a:cs typeface="Arial"/>
              </a:defRPr>
            </a:pPr>
            <a:r>
              <a:rPr sz="1875" b="1">
                <a:solidFill>
                  <a:srgbClr val="172027"/>
                </a:solidFill>
                <a:latin typeface="Arial"/>
                <a:ea typeface="Arial"/>
                <a:cs typeface="Arial"/>
              </a:rPr>
              <a:t>PF03: 46.331 request, p95 tổng 110 ms</a:t>
            </a:r>
          </a:p>
        </p:txBody>
      </p:sp>
      <p:sp>
        <p:nvSpPr>
          <p:cNvPr id="9" name="">
            <a:extLst xmlns:a="http://schemas.openxmlformats.org/drawingml/2006/main">
              <a:ext uri="{FF2B5EF4-FFF2-40B4-BE49-F238E27FC236}">
                <a16:creationId xmlns:a16="http://schemas.microsoft.com/office/drawing/2014/main" id="{921D2D66-E037-4101-A181-38BF79D89939}"/>
              </a:ext>
            </a:extLst>
          </p:cNvPr>
          <p:cNvSpPr>
            <a:spLocks xmlns:a="http://schemas.openxmlformats.org/drawingml/2006/main" noGrp="1"/>
          </p:cNvSpPr>
          <p:nvPr/>
        </p:nvSpPr>
        <p:spPr>
          <a:xfrm xmlns:a="http://schemas.openxmlformats.org/drawingml/2006/main">
            <a:off x="685800" y="64198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25" b="0">
                <a:solidFill>
                  <a:srgbClr val="5E6972"/>
                </a:solidFill>
                <a:latin typeface="Arial"/>
                <a:ea typeface="Arial"/>
                <a:cs typeface="Arial"/>
              </a:defRPr>
            </a:pPr>
            <a:r>
              <a:rPr sz="825" b="0">
                <a:solidFill>
                  <a:srgbClr val="5E6972"/>
                </a:solidFill>
                <a:latin typeface="Arial"/>
                <a:ea typeface="Arial"/>
                <a:cs typeface="Arial"/>
              </a:rPr>
              <a:t>Nguồn: perf/reports/RESULTS.md; PostgreSQL 16, Locust 2.46.6, Windows 11</a:t>
            </a:r>
          </a:p>
        </p:txBody>
      </p:sp>
      <p:graphicFrame>
        <p:nvGraphicFramePr>
          <p:cNvPr id="20" name="Chart"/>
          <p:cNvGraphicFramePr/>
          <p:nvPr/>
        </p:nvGraphicFramePr>
        <p:xfrm>
          <a:off xmlns:a="http://schemas.openxmlformats.org/drawingml/2006/main" x="685800" y="1466850"/>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8245577c40ef4a70"/>
          </a:graphicData>
        </a:graphic>
      </p:graphicFrame>
    </p:spTree>
    <p:extLst>
      <p:ext uri="{BB962C8B-B14F-4D97-AF65-F5344CB8AC3E}">
        <p14:creationId xmlns:p14="http://schemas.microsoft.com/office/powerpoint/2010/main" val="221569233"/>
      </p:ext>
    </p:extLst>
  </p:cSld>
</p:sld>
</file>

<file path=ppt/slides/slide6.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91A0AB-D6B7-4060-8A6B-2DA4B4D6B1D6}"/>
              </a:ext>
            </a:extLst>
          </p:cNvPr>
          <p:cNvSpPr>
            <a:spLocks xmlns:a="http://schemas.openxmlformats.org/drawingml/2006/main" noGrp="1"/>
          </p:cNvSpPr>
          <p:nvPr/>
        </p:nvSpPr>
        <p:spPr>
          <a:xfrm xmlns:a="http://schemas.openxmlformats.org/drawingml/2006/main">
            <a:off x="685800" y="400050"/>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F7F2E8"/>
                </a:solidFill>
                <a:latin typeface="Arial"/>
                <a:ea typeface="Arial"/>
                <a:cs typeface="Arial"/>
              </a:defRPr>
            </a:pPr>
            <a:r>
              <a:rPr sz="2625" b="1">
                <a:solidFill>
                  <a:srgbClr val="F7F2E8"/>
                </a:solidFill>
                <a:latin typeface="Arial"/>
                <a:ea typeface="Arial"/>
                <a:cs typeface="Arial"/>
              </a:rPr>
              <a:t>Kịch bản demo và câu hỏi phản biện</a:t>
            </a:r>
          </a:p>
        </p:txBody>
      </p:sp>
      <p:sp>
        <p:nvSpPr>
          <p:cNvPr id="2" name="">
            <a:extLst xmlns:a="http://schemas.openxmlformats.org/drawingml/2006/main">
              <a:ext uri="{FF2B5EF4-FFF2-40B4-BE49-F238E27FC236}">
                <a16:creationId xmlns:a16="http://schemas.microsoft.com/office/drawing/2014/main" id="{AF5E5276-84BF-47C8-812E-5156017453E0}"/>
              </a:ext>
            </a:extLst>
          </p:cNvPr>
          <p:cNvSpPr>
            <a:spLocks xmlns:a="http://schemas.openxmlformats.org/drawingml/2006/main" noGrp="1"/>
          </p:cNvSpPr>
          <p:nvPr/>
        </p:nvSpPr>
        <p:spPr>
          <a:xfrm xmlns:a="http://schemas.openxmlformats.org/drawingml/2006/main">
            <a:off x="10934700" y="45720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1">
                <a:solidFill>
                  <a:srgbClr val="F28C28"/>
                </a:solidFill>
                <a:latin typeface="Arial"/>
                <a:ea typeface="Arial"/>
                <a:cs typeface="Arial"/>
              </a:defRPr>
            </a:pPr>
            <a:r>
              <a:rPr sz="1350" b="1">
                <a:solidFill>
                  <a:srgbClr val="F28C2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87A1A23F-D93F-4E94-9D51-4357FE53A80F}"/>
              </a:ext>
            </a:extLst>
          </p:cNvPr>
          <p:cNvSpPr>
            <a:spLocks xmlns:a="http://schemas.openxmlformats.org/drawingml/2006/main" noGrp="1"/>
          </p:cNvSpPr>
          <p:nvPr/>
        </p:nvSpPr>
        <p:spPr>
          <a:xfrm xmlns:a="http://schemas.openxmlformats.org/drawingml/2006/main">
            <a:off x="685800" y="1371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28C28"/>
                </a:solidFill>
                <a:latin typeface="Arial"/>
                <a:ea typeface="Arial"/>
                <a:cs typeface="Arial"/>
              </a:defRPr>
            </a:pPr>
            <a:r>
              <a:rPr sz="1200" b="1">
                <a:solidFill>
                  <a:srgbClr val="F28C28"/>
                </a:solidFill>
                <a:latin typeface="Arial"/>
                <a:ea typeface="Arial"/>
                <a:cs typeface="Arial"/>
              </a:rPr>
              <a:t>DEMO</a:t>
            </a:r>
          </a:p>
        </p:txBody>
      </p:sp>
      <p:sp>
        <p:nvSpPr>
          <p:cNvPr id="4" name="">
            <a:extLst xmlns:a="http://schemas.openxmlformats.org/drawingml/2006/main">
              <a:ext uri="{FF2B5EF4-FFF2-40B4-BE49-F238E27FC236}">
                <a16:creationId xmlns:a16="http://schemas.microsoft.com/office/drawing/2014/main" id="{04D25392-75E7-4DAB-A6B9-F4DC2692F6CC}"/>
              </a:ext>
            </a:extLst>
          </p:cNvPr>
          <p:cNvSpPr>
            <a:spLocks xmlns:a="http://schemas.openxmlformats.org/drawingml/2006/main" noGrp="1"/>
          </p:cNvSpPr>
          <p:nvPr/>
        </p:nvSpPr>
        <p:spPr>
          <a:xfrm xmlns:a="http://schemas.openxmlformats.org/drawingml/2006/main">
            <a:off x="685800" y="1847850"/>
            <a:ext cx="4476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F7F2E8"/>
                </a:solidFill>
                <a:latin typeface="Arial"/>
                <a:ea typeface="Arial"/>
                <a:cs typeface="Arial"/>
              </a:defRPr>
            </a:pPr>
            <a:r>
              <a:rPr sz="1875" b="0">
                <a:solidFill>
                  <a:srgbClr val="F7F2E8"/>
                </a:solidFill>
                <a:latin typeface="Arial"/>
                <a:ea typeface="Arial"/>
                <a:cs typeface="Arial"/>
              </a:rPr>
              <a:t>1  Tìm và chọn phim trong booking</a:t>
            </a:r>
          </a:p>
          <a:p xmlns:a="http://schemas.openxmlformats.org/drawingml/2006/main">
            <a:pPr algn="l">
              <a:defRPr sz="1875" b="0">
                <a:solidFill>
                  <a:srgbClr val="F7F2E8"/>
                </a:solidFill>
                <a:latin typeface="Arial"/>
                <a:ea typeface="Arial"/>
                <a:cs typeface="Arial"/>
              </a:defRPr>
            </a:pPr>
            <a:r>
              <a:rPr sz="1875" b="0">
                <a:solidFill>
                  <a:srgbClr val="F7F2E8"/>
                </a:solidFill>
                <a:latin typeface="Arial"/>
                <a:ea typeface="Arial"/>
                <a:cs typeface="Arial"/>
              </a:rPr>
              <a:t>2  Đổi phim, kiểm tra movieVersion</a:t>
            </a:r>
          </a:p>
          <a:p xmlns:a="http://schemas.openxmlformats.org/drawingml/2006/main">
            <a:pPr algn="l">
              <a:defRPr sz="1875" b="0">
                <a:solidFill>
                  <a:srgbClr val="F7F2E8"/>
                </a:solidFill>
                <a:latin typeface="Arial"/>
                <a:ea typeface="Arial"/>
                <a:cs typeface="Arial"/>
              </a:defRPr>
            </a:pPr>
            <a:r>
              <a:rPr sz="1875" b="0">
                <a:solidFill>
                  <a:srgbClr val="F7F2E8"/>
                </a:solidFill>
                <a:latin typeface="Arial"/>
                <a:ea typeface="Arial"/>
                <a:cs typeface="Arial"/>
              </a:rPr>
              <a:t>3  Nhân viên chuyển PENDING sang READY</a:t>
            </a:r>
          </a:p>
          <a:p xmlns:a="http://schemas.openxmlformats.org/drawingml/2006/main">
            <a:pPr algn="l">
              <a:defRPr sz="1875" b="0">
                <a:solidFill>
                  <a:srgbClr val="F7F2E8"/>
                </a:solidFill>
                <a:latin typeface="Arial"/>
                <a:ea typeface="Arial"/>
                <a:cs typeface="Arial"/>
              </a:defRPr>
            </a:pPr>
            <a:r>
              <a:rPr sz="1875" b="0">
                <a:solidFill>
                  <a:srgbClr val="F7F2E8"/>
                </a:solidFill>
                <a:latin typeface="Arial"/>
                <a:ea typeface="Arial"/>
                <a:cs typeface="Arial"/>
              </a:rPr>
              <a:t>4  Gửi lại expectedVersion cũ</a:t>
            </a:r>
          </a:p>
        </p:txBody>
      </p:sp>
      <p:sp>
        <p:nvSpPr>
          <p:cNvPr id="5" name="">
            <a:extLst xmlns:a="http://schemas.openxmlformats.org/drawingml/2006/main">
              <a:ext uri="{FF2B5EF4-FFF2-40B4-BE49-F238E27FC236}">
                <a16:creationId xmlns:a16="http://schemas.microsoft.com/office/drawing/2014/main" id="{543490A0-8FE7-4355-875D-3DB9E6E73AB8}"/>
              </a:ext>
            </a:extLst>
          </p:cNvPr>
          <p:cNvSpPr>
            <a:spLocks xmlns:a="http://schemas.openxmlformats.org/drawingml/2006/main" noGrp="1"/>
          </p:cNvSpPr>
          <p:nvPr/>
        </p:nvSpPr>
        <p:spPr>
          <a:xfrm xmlns:a="http://schemas.openxmlformats.org/drawingml/2006/main">
            <a:off x="6496050" y="13716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1">
                <a:solidFill>
                  <a:srgbClr val="F28C28"/>
                </a:solidFill>
                <a:latin typeface="Arial"/>
                <a:ea typeface="Arial"/>
                <a:cs typeface="Arial"/>
              </a:defRPr>
            </a:pPr>
            <a:r>
              <a:rPr sz="1200" b="1">
                <a:solidFill>
                  <a:srgbClr val="F28C28"/>
                </a:solidFill>
                <a:latin typeface="Arial"/>
                <a:ea typeface="Arial"/>
                <a:cs typeface="Arial"/>
              </a:rPr>
              <a:t>Q&amp;A</a:t>
            </a:r>
          </a:p>
        </p:txBody>
      </p:sp>
      <p:sp>
        <p:nvSpPr>
          <p:cNvPr id="6" name="">
            <a:extLst xmlns:a="http://schemas.openxmlformats.org/drawingml/2006/main">
              <a:ext uri="{FF2B5EF4-FFF2-40B4-BE49-F238E27FC236}">
                <a16:creationId xmlns:a16="http://schemas.microsoft.com/office/drawing/2014/main" id="{40553533-D8C9-44F9-A3FC-932587CDA35B}"/>
              </a:ext>
            </a:extLst>
          </p:cNvPr>
          <p:cNvSpPr>
            <a:spLocks xmlns:a="http://schemas.openxmlformats.org/drawingml/2006/main" noGrp="1"/>
          </p:cNvSpPr>
          <p:nvPr/>
        </p:nvSpPr>
        <p:spPr>
          <a:xfrm xmlns:a="http://schemas.openxmlformats.org/drawingml/2006/main">
            <a:off x="6496050" y="1847850"/>
            <a:ext cx="4857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F7F2E8"/>
                </a:solidFill>
                <a:latin typeface="Arial"/>
                <a:ea typeface="Arial"/>
                <a:cs typeface="Arial"/>
              </a:defRPr>
            </a:pPr>
            <a:r>
              <a:rPr sz="1800" b="0">
                <a:solidFill>
                  <a:srgbClr val="F7F2E8"/>
                </a:solidFill>
                <a:latin typeface="Arial"/>
                <a:ea typeface="Arial"/>
                <a:cs typeface="Arial"/>
              </a:rPr>
              <a:t>Vì sao dùng optimistic locking?</a:t>
            </a:r>
          </a:p>
          <a:p xmlns:a="http://schemas.openxmlformats.org/drawingml/2006/main">
            <a:r>
              <a:t/>
            </a:r>
          </a:p>
          <a:p xmlns:a="http://schemas.openxmlformats.org/drawingml/2006/main">
            <a:pPr algn="l">
              <a:defRPr sz="1800" b="0">
                <a:solidFill>
                  <a:srgbClr val="F7F2E8"/>
                </a:solidFill>
                <a:latin typeface="Arial"/>
                <a:ea typeface="Arial"/>
                <a:cs typeface="Arial"/>
              </a:defRPr>
            </a:pPr>
            <a:r>
              <a:rPr sz="1800" b="0">
                <a:solidFill>
                  <a:srgbClr val="F7F2E8"/>
                </a:solidFill>
                <a:latin typeface="Arial"/>
                <a:ea typeface="Arial"/>
                <a:cs typeface="Arial"/>
              </a:rPr>
              <a:t>Importer xử lý dữ liệu thiếu và trùng ra sao?</a:t>
            </a:r>
          </a:p>
          <a:p xmlns:a="http://schemas.openxmlformats.org/drawingml/2006/main">
            <a:r>
              <a:t/>
            </a:r>
          </a:p>
          <a:p xmlns:a="http://schemas.openxmlformats.org/drawingml/2006/main">
            <a:pPr algn="l">
              <a:defRPr sz="1800" b="0">
                <a:solidFill>
                  <a:srgbClr val="F7F2E8"/>
                </a:solidFill>
                <a:latin typeface="Arial"/>
                <a:ea typeface="Arial"/>
                <a:cs typeface="Arial"/>
              </a:defRPr>
            </a:pPr>
            <a:r>
              <a:rPr sz="1800" b="0">
                <a:solidFill>
                  <a:srgbClr val="F7F2E8"/>
                </a:solidFill>
                <a:latin typeface="Arial"/>
                <a:ea typeface="Arial"/>
                <a:cs typeface="Arial"/>
              </a:rPr>
              <a:t>PF02 chứng minh chống double booking thế nào?</a:t>
            </a:r>
          </a:p>
          <a:p xmlns:a="http://schemas.openxmlformats.org/drawingml/2006/main">
            <a:r>
              <a:t/>
            </a:r>
          </a:p>
          <a:p xmlns:a="http://schemas.openxmlformats.org/drawingml/2006/main">
            <a:pPr algn="l">
              <a:defRPr sz="1800" b="0">
                <a:solidFill>
                  <a:srgbClr val="F7F2E8"/>
                </a:solidFill>
                <a:latin typeface="Arial"/>
                <a:ea typeface="Arial"/>
                <a:cs typeface="Arial"/>
              </a:defRPr>
            </a:pPr>
            <a:r>
              <a:rPr sz="1800" b="0">
                <a:solidFill>
                  <a:srgbClr val="F7F2E8"/>
                </a:solidFill>
                <a:latin typeface="Arial"/>
                <a:ea typeface="Arial"/>
                <a:cs typeface="Arial"/>
              </a:rPr>
              <a:t>Điểm nghẽn nào còn lại?</a:t>
            </a:r>
          </a:p>
        </p:txBody>
      </p:sp>
      <p:sp>
        <p:nvSpPr>
          <p:cNvPr id="7" name="">
            <a:extLst xmlns:a="http://schemas.openxmlformats.org/drawingml/2006/main">
              <a:ext uri="{FF2B5EF4-FFF2-40B4-BE49-F238E27FC236}">
                <a16:creationId xmlns:a16="http://schemas.microsoft.com/office/drawing/2014/main" id="{445FED1C-CD9E-4D96-A662-2AE59961ABA9}"/>
              </a:ext>
            </a:extLst>
          </p:cNvPr>
          <p:cNvSpPr>
            <a:spLocks xmlns:a="http://schemas.openxmlformats.org/drawingml/2006/main" noGrp="1"/>
          </p:cNvSpPr>
          <p:nvPr/>
        </p:nvSpPr>
        <p:spPr>
          <a:xfrm xmlns:a="http://schemas.openxmlformats.org/drawingml/2006/main">
            <a:off x="685800" y="56197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61D6C5"/>
                </a:solidFill>
                <a:latin typeface="Arial"/>
                <a:ea typeface="Arial"/>
                <a:cs typeface="Arial"/>
              </a:defRPr>
            </a:pPr>
            <a:r>
              <a:rPr sz="1650" b="1">
                <a:solidFill>
                  <a:srgbClr val="61D6C5"/>
                </a:solidFill>
                <a:latin typeface="Arial"/>
                <a:ea typeface="Arial"/>
                <a:cs typeface="Arial"/>
              </a:rPr>
              <a:t>Tài liệu trả lời chi tiết: docs/ThanhLe_QA.md</a:t>
            </a:r>
          </a:p>
        </p:txBody>
      </p:sp>
      <p:sp>
        <p:nvSpPr>
          <p:cNvPr id="8" name="">
            <a:extLst xmlns:a="http://schemas.openxmlformats.org/drawingml/2006/main">
              <a:ext uri="{FF2B5EF4-FFF2-40B4-BE49-F238E27FC236}">
                <a16:creationId xmlns:a16="http://schemas.microsoft.com/office/drawing/2014/main" id="{CE721882-B323-487E-9BB7-AC8797C25AA9}"/>
              </a:ext>
            </a:extLst>
          </p:cNvPr>
          <p:cNvSpPr>
            <a:spLocks xmlns:a="http://schemas.openxmlformats.org/drawingml/2006/main" noGrp="1"/>
          </p:cNvSpPr>
          <p:nvPr/>
        </p:nvSpPr>
        <p:spPr>
          <a:xfrm xmlns:a="http://schemas.openxmlformats.org/drawingml/2006/main">
            <a:off x="685800" y="6419850"/>
            <a:ext cx="10820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0">
                <a:solidFill>
                  <a:srgbClr val="B8B3A8"/>
                </a:solidFill>
                <a:latin typeface="Arial"/>
                <a:ea typeface="Arial"/>
                <a:cs typeface="Arial"/>
              </a:defRPr>
            </a:pPr>
            <a:r>
              <a:rPr sz="825" b="0">
                <a:solidFill>
                  <a:srgbClr val="B8B3A8"/>
                </a:solidFill>
                <a:latin typeface="Arial"/>
                <a:ea typeface="Arial"/>
                <a:cs typeface="Arial"/>
              </a:rPr>
              <a:t>CineNest</a:t>
            </a:r>
          </a:p>
        </p:txBody>
      </p:sp>
    </p:spTree>
    <p:extLst>
      <p:ext uri="{BB962C8B-B14F-4D97-AF65-F5344CB8AC3E}">
        <p14:creationId xmlns:p14="http://schemas.microsoft.com/office/powerpoint/2010/main" val="12519239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2026-09-18T16:24:11.0400000Z</dcterms:created>
  <dcterms:modified xsi:type="dcterms:W3CDTF">2026-09-18T16:24:11.0400000Z</dcterms:modified>
</coreProperties>
</file>